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-1"/>
          <p:cNvSpPr>
            <a:spLocks noGrp="1"/>
          </p:cNvSpPr>
          <p:nvPr/>
        </p:nvSpPr>
        <p:spPr>
          <a:xfrm>
            <a:off x="1119336" y="2275731"/>
            <a:ext cx="18134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6DE4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6DE4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CITY SMART OPERATION</a:t>
            </a:r>
            <a:endParaRPr sz="865" b="1" i="0">
              <a:solidFill>
                <a:srgbClr val="6DE4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-2"/>
          <p:cNvSpPr>
            <a:spLocks noGrp="1"/>
          </p:cNvSpPr>
          <p:nvPr/>
        </p:nvSpPr>
        <p:spPr>
          <a:xfrm>
            <a:off x="746373" y="2576513"/>
            <a:ext cx="470788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041"/>
          </a:bodyPr>
          <a:lstStyle/>
          <a:p>
            <a:pPr algn="l">
              <a:defRPr sz="321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1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城市级停车充电运营智能化</a:t>
            </a:r>
            <a:endParaRPr sz="321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-3"/>
          <p:cNvSpPr>
            <a:spLocks noGrp="1"/>
          </p:cNvSpPr>
          <p:nvPr/>
        </p:nvSpPr>
        <p:spPr>
          <a:xfrm>
            <a:off x="746373" y="3058269"/>
            <a:ext cx="848171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1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1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</a:t>
            </a:r>
            <a:endParaRPr sz="321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-4"/>
          <p:cNvSpPr>
            <a:spLocks noGrp="1"/>
          </p:cNvSpPr>
          <p:nvPr/>
        </p:nvSpPr>
        <p:spPr>
          <a:xfrm>
            <a:off x="1617613" y="3058269"/>
            <a:ext cx="2392114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15" b="1" i="0">
                <a:solidFill>
                  <a:srgbClr val="67D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15" b="1" i="0">
                <a:solidFill>
                  <a:srgbClr val="67D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sz="3215" b="1" i="0">
                <a:solidFill>
                  <a:srgbClr val="67D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r>
              <a:rPr sz="3215" b="1" i="0">
                <a:solidFill>
                  <a:srgbClr val="67D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sz="3215" b="1" i="0">
              <a:solidFill>
                <a:srgbClr val="67DD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-6"/>
          <p:cNvSpPr>
            <a:spLocks noGrp="1"/>
          </p:cNvSpPr>
          <p:nvPr/>
        </p:nvSpPr>
        <p:spPr>
          <a:xfrm>
            <a:off x="847279" y="4443413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设备直连</a:t>
            </a:r>
            <a:endParaRPr sz="720" b="0" i="0">
              <a:solidFill>
                <a:srgbClr val="DDE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-7"/>
          <p:cNvSpPr>
            <a:spLocks noGrp="1"/>
          </p:cNvSpPr>
          <p:nvPr/>
        </p:nvSpPr>
        <p:spPr>
          <a:xfrm>
            <a:off x="1597670" y="4443413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统一计费</a:t>
            </a:r>
            <a:endParaRPr sz="720" b="0" i="0">
              <a:solidFill>
                <a:srgbClr val="DDE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-8"/>
          <p:cNvSpPr>
            <a:spLocks noGrp="1"/>
          </p:cNvSpPr>
          <p:nvPr/>
        </p:nvSpPr>
        <p:spPr>
          <a:xfrm>
            <a:off x="2348061" y="4443413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0" i="0">
                <a:solidFill>
                  <a:srgbClr val="DDE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运营闭环</a:t>
            </a:r>
            <a:endParaRPr sz="720" b="0" i="0">
              <a:solidFill>
                <a:srgbClr val="DDE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-10"/>
          <p:cNvSpPr>
            <a:spLocks noGrp="1"/>
          </p:cNvSpPr>
          <p:nvPr/>
        </p:nvSpPr>
        <p:spPr>
          <a:xfrm>
            <a:off x="8976653" y="2918201"/>
            <a:ext cx="527447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550" b="1" i="0">
                <a:solidFill>
                  <a:srgbClr val="071D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550" b="1" i="0">
                <a:solidFill>
                  <a:srgbClr val="071D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</a:t>
            </a:r>
            <a:endParaRPr lang="zh-CN" sz="3550" b="1" i="0">
              <a:solidFill>
                <a:srgbClr val="071D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-11"/>
          <p:cNvSpPr>
            <a:spLocks noGrp="1"/>
          </p:cNvSpPr>
          <p:nvPr/>
        </p:nvSpPr>
        <p:spPr>
          <a:xfrm>
            <a:off x="9061400" y="1949053"/>
            <a:ext cx="2408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</a:t>
            </a:r>
            <a:endParaRPr sz="1295" b="0" i="0">
              <a:solidFill>
                <a:srgbClr val="82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-12"/>
          <p:cNvSpPr>
            <a:spLocks noGrp="1"/>
          </p:cNvSpPr>
          <p:nvPr/>
        </p:nvSpPr>
        <p:spPr>
          <a:xfrm>
            <a:off x="7437983" y="3104257"/>
            <a:ext cx="2408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</a:t>
            </a:r>
            <a:endParaRPr sz="1295" b="0" i="0">
              <a:solidFill>
                <a:srgbClr val="82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-13"/>
          <p:cNvSpPr>
            <a:spLocks noGrp="1"/>
          </p:cNvSpPr>
          <p:nvPr/>
        </p:nvSpPr>
        <p:spPr>
          <a:xfrm>
            <a:off x="11149161" y="3104257"/>
            <a:ext cx="2408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sz="1295" b="0" i="0">
              <a:solidFill>
                <a:srgbClr val="82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-14"/>
          <p:cNvSpPr>
            <a:spLocks noGrp="1"/>
          </p:cNvSpPr>
          <p:nvPr/>
        </p:nvSpPr>
        <p:spPr>
          <a:xfrm>
            <a:off x="8206978" y="4808041"/>
            <a:ext cx="2408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</a:t>
            </a:r>
            <a:endParaRPr sz="1295" b="0" i="0">
              <a:solidFill>
                <a:srgbClr val="82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-15"/>
          <p:cNvSpPr>
            <a:spLocks noGrp="1"/>
          </p:cNvSpPr>
          <p:nvPr/>
        </p:nvSpPr>
        <p:spPr>
          <a:xfrm>
            <a:off x="10423029" y="4844058"/>
            <a:ext cx="2408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5" b="0" i="0">
                <a:solidFill>
                  <a:srgbClr val="82ED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endParaRPr sz="1295" b="0" i="0">
              <a:solidFill>
                <a:srgbClr val="82ED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2-1"/>
          <p:cNvSpPr>
            <a:spLocks noGrp="1"/>
          </p:cNvSpPr>
          <p:nvPr/>
        </p:nvSpPr>
        <p:spPr>
          <a:xfrm>
            <a:off x="1034355" y="639217"/>
            <a:ext cx="91588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2-2"/>
          <p:cNvSpPr>
            <a:spLocks noGrp="1"/>
          </p:cNvSpPr>
          <p:nvPr/>
        </p:nvSpPr>
        <p:spPr>
          <a:xfrm>
            <a:off x="746373" y="852488"/>
            <a:ext cx="123527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汇报目录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2-3"/>
          <p:cNvSpPr>
            <a:spLocks noGrp="1"/>
          </p:cNvSpPr>
          <p:nvPr/>
        </p:nvSpPr>
        <p:spPr>
          <a:xfrm>
            <a:off x="746373" y="1317278"/>
            <a:ext cx="353273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围绕“充电、停车场、道路停车、运营管理”四个层面展开。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2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2-5"/>
          <p:cNvSpPr>
            <a:spLocks noGrp="1"/>
          </p:cNvSpPr>
          <p:nvPr/>
        </p:nvSpPr>
        <p:spPr>
          <a:xfrm>
            <a:off x="1126778" y="2008584"/>
            <a:ext cx="1429643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5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2-6"/>
          <p:cNvSpPr>
            <a:spLocks noGrp="1"/>
          </p:cNvSpPr>
          <p:nvPr/>
        </p:nvSpPr>
        <p:spPr>
          <a:xfrm>
            <a:off x="1843980" y="3570536"/>
            <a:ext cx="168562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1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四大建设主题</a:t>
            </a:r>
            <a:endParaRPr sz="21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2-7"/>
          <p:cNvSpPr>
            <a:spLocks noGrp="1"/>
          </p:cNvSpPr>
          <p:nvPr/>
        </p:nvSpPr>
        <p:spPr>
          <a:xfrm>
            <a:off x="1706761" y="3997970"/>
            <a:ext cx="196006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0" i="0">
                <a:solidFill>
                  <a:srgbClr val="75E3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0" i="0">
                <a:solidFill>
                  <a:srgbClr val="75E3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DEVICE TO OPERATION</a:t>
            </a:r>
            <a:endParaRPr sz="845" b="0" i="0">
              <a:solidFill>
                <a:srgbClr val="75E3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2-8"/>
          <p:cNvSpPr>
            <a:spLocks noGrp="1"/>
          </p:cNvSpPr>
          <p:nvPr/>
        </p:nvSpPr>
        <p:spPr>
          <a:xfrm>
            <a:off x="5247084" y="3011388"/>
            <a:ext cx="2641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2-9"/>
          <p:cNvSpPr>
            <a:spLocks noGrp="1"/>
          </p:cNvSpPr>
          <p:nvPr/>
        </p:nvSpPr>
        <p:spPr>
          <a:xfrm>
            <a:off x="5734645" y="3030438"/>
            <a:ext cx="11735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充电设施与运营闭环</a:t>
            </a:r>
            <a:endParaRPr sz="96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2-10"/>
          <p:cNvSpPr>
            <a:spLocks noGrp="1"/>
          </p:cNvSpPr>
          <p:nvPr/>
        </p:nvSpPr>
        <p:spPr>
          <a:xfrm>
            <a:off x="10964019" y="3054251"/>
            <a:ext cx="376833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03—07</a:t>
            </a:r>
            <a:endParaRPr sz="690" b="0" i="0">
              <a:solidFill>
                <a:srgbClr val="91A0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2-11"/>
          <p:cNvSpPr>
            <a:spLocks noGrp="1"/>
          </p:cNvSpPr>
          <p:nvPr/>
        </p:nvSpPr>
        <p:spPr>
          <a:xfrm>
            <a:off x="5247084" y="3507581"/>
            <a:ext cx="2641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2-12"/>
          <p:cNvSpPr>
            <a:spLocks noGrp="1"/>
          </p:cNvSpPr>
          <p:nvPr/>
        </p:nvSpPr>
        <p:spPr>
          <a:xfrm>
            <a:off x="5734645" y="3526631"/>
            <a:ext cx="141743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停车场设备、网络与计费</a:t>
            </a:r>
            <a:endParaRPr sz="96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2-13"/>
          <p:cNvSpPr>
            <a:spLocks noGrp="1"/>
          </p:cNvSpPr>
          <p:nvPr/>
        </p:nvSpPr>
        <p:spPr>
          <a:xfrm>
            <a:off x="10964019" y="3550444"/>
            <a:ext cx="376833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08—10</a:t>
            </a:r>
            <a:endParaRPr sz="690" b="0" i="0">
              <a:solidFill>
                <a:srgbClr val="91A0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2-14"/>
          <p:cNvSpPr>
            <a:spLocks noGrp="1"/>
          </p:cNvSpPr>
          <p:nvPr/>
        </p:nvSpPr>
        <p:spPr>
          <a:xfrm>
            <a:off x="5247084" y="4003774"/>
            <a:ext cx="2641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2-15"/>
          <p:cNvSpPr>
            <a:spLocks noGrp="1"/>
          </p:cNvSpPr>
          <p:nvPr/>
        </p:nvSpPr>
        <p:spPr>
          <a:xfrm>
            <a:off x="5734645" y="4022824"/>
            <a:ext cx="11735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道路停车建设与运营</a:t>
            </a:r>
            <a:endParaRPr sz="96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2-16"/>
          <p:cNvSpPr>
            <a:spLocks noGrp="1"/>
          </p:cNvSpPr>
          <p:nvPr/>
        </p:nvSpPr>
        <p:spPr>
          <a:xfrm>
            <a:off x="10964019" y="4046637"/>
            <a:ext cx="376833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11—14</a:t>
            </a:r>
            <a:endParaRPr sz="690" b="0" i="0">
              <a:solidFill>
                <a:srgbClr val="91A0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2-17"/>
          <p:cNvSpPr>
            <a:spLocks noGrp="1"/>
          </p:cNvSpPr>
          <p:nvPr/>
        </p:nvSpPr>
        <p:spPr>
          <a:xfrm>
            <a:off x="5247084" y="4499967"/>
            <a:ext cx="2641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2-18"/>
          <p:cNvSpPr>
            <a:spLocks noGrp="1"/>
          </p:cNvSpPr>
          <p:nvPr/>
        </p:nvSpPr>
        <p:spPr>
          <a:xfrm>
            <a:off x="5734645" y="4519017"/>
            <a:ext cx="11735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日常管理与建设总结</a:t>
            </a:r>
            <a:endParaRPr sz="96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2-19"/>
          <p:cNvSpPr>
            <a:spLocks noGrp="1"/>
          </p:cNvSpPr>
          <p:nvPr/>
        </p:nvSpPr>
        <p:spPr>
          <a:xfrm>
            <a:off x="11161663" y="4542830"/>
            <a:ext cx="179189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91A0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690" b="0" i="0">
              <a:solidFill>
                <a:srgbClr val="91A0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2-20"/>
          <p:cNvSpPr>
            <a:spLocks noGrp="1"/>
          </p:cNvSpPr>
          <p:nvPr/>
        </p:nvSpPr>
        <p:spPr>
          <a:xfrm>
            <a:off x="955328" y="6562725"/>
            <a:ext cx="188550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城市级停车充电运营智能化建设“防坑”指南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3-1"/>
          <p:cNvSpPr>
            <a:spLocks noGrp="1"/>
          </p:cNvSpPr>
          <p:nvPr/>
        </p:nvSpPr>
        <p:spPr>
          <a:xfrm>
            <a:off x="746373" y="2435126"/>
            <a:ext cx="198298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1" i="0">
                <a:solidFill>
                  <a:srgbClr val="58D9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 i="0">
                <a:solidFill>
                  <a:srgbClr val="58D9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01 / 建设总原则</a:t>
            </a:r>
            <a:endParaRPr sz="960" b="1" i="0">
              <a:solidFill>
                <a:srgbClr val="58D9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3-2"/>
          <p:cNvSpPr>
            <a:spLocks noGrp="1"/>
          </p:cNvSpPr>
          <p:nvPr/>
        </p:nvSpPr>
        <p:spPr>
          <a:xfrm>
            <a:off x="746373" y="2744093"/>
            <a:ext cx="3365748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193"/>
          </a:bodyPr>
          <a:lstStyle/>
          <a:p>
            <a:pPr algn="l">
              <a:defRPr sz="34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先确定运营模式，</a:t>
            </a:r>
            <a:endParaRPr sz="34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3-3"/>
          <p:cNvSpPr>
            <a:spLocks noGrp="1"/>
          </p:cNvSpPr>
          <p:nvPr/>
        </p:nvSpPr>
        <p:spPr>
          <a:xfrm>
            <a:off x="746373" y="3233142"/>
            <a:ext cx="2132112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520"/>
          </a:bodyPr>
          <a:lstStyle/>
          <a:p>
            <a:pPr algn="l">
              <a:defRPr sz="34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再采购设备</a:t>
            </a:r>
            <a:endParaRPr sz="34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3-4"/>
          <p:cNvSpPr>
            <a:spLocks noGrp="1"/>
          </p:cNvSpPr>
          <p:nvPr/>
        </p:nvSpPr>
        <p:spPr>
          <a:xfrm>
            <a:off x="746373" y="3980855"/>
            <a:ext cx="4466630" cy="2557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B9C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B9C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智能化建设不是简单采购更多硬件，而是围绕业务模式建立 “设备可替换、数</a:t>
            </a:r>
            <a:endParaRPr sz="1010" b="0" i="0">
              <a:solidFill>
                <a:srgbClr val="B9CC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3-5"/>
          <p:cNvSpPr>
            <a:spLocks noGrp="1"/>
          </p:cNvSpPr>
          <p:nvPr/>
        </p:nvSpPr>
        <p:spPr>
          <a:xfrm>
            <a:off x="746373" y="4198441"/>
            <a:ext cx="3020616" cy="2557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B9C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B9C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据可掌握、规则可调整、运营可追踪”的长期能力。</a:t>
            </a:r>
            <a:endParaRPr sz="1010" b="0" i="0">
              <a:solidFill>
                <a:srgbClr val="B9CC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3-8"/>
          <p:cNvSpPr>
            <a:spLocks noGrp="1"/>
          </p:cNvSpPr>
          <p:nvPr/>
        </p:nvSpPr>
        <p:spPr>
          <a:xfrm>
            <a:off x="8925818" y="1493490"/>
            <a:ext cx="27131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3-9"/>
          <p:cNvSpPr>
            <a:spLocks noGrp="1"/>
          </p:cNvSpPr>
          <p:nvPr/>
        </p:nvSpPr>
        <p:spPr>
          <a:xfrm>
            <a:off x="8877002" y="1626840"/>
            <a:ext cx="3689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可替换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3-10"/>
          <p:cNvSpPr>
            <a:spLocks noGrp="1"/>
          </p:cNvSpPr>
          <p:nvPr/>
        </p:nvSpPr>
        <p:spPr>
          <a:xfrm>
            <a:off x="10592991" y="3241774"/>
            <a:ext cx="27131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3-11"/>
          <p:cNvSpPr>
            <a:spLocks noGrp="1"/>
          </p:cNvSpPr>
          <p:nvPr/>
        </p:nvSpPr>
        <p:spPr>
          <a:xfrm>
            <a:off x="10544175" y="3375124"/>
            <a:ext cx="3689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可调整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3-12"/>
          <p:cNvSpPr>
            <a:spLocks noGrp="1"/>
          </p:cNvSpPr>
          <p:nvPr/>
        </p:nvSpPr>
        <p:spPr>
          <a:xfrm>
            <a:off x="8925818" y="5071616"/>
            <a:ext cx="27131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3-13"/>
          <p:cNvSpPr>
            <a:spLocks noGrp="1"/>
          </p:cNvSpPr>
          <p:nvPr/>
        </p:nvSpPr>
        <p:spPr>
          <a:xfrm>
            <a:off x="8877002" y="5204966"/>
            <a:ext cx="3689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可追踪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3-14"/>
          <p:cNvSpPr>
            <a:spLocks noGrp="1"/>
          </p:cNvSpPr>
          <p:nvPr/>
        </p:nvSpPr>
        <p:spPr>
          <a:xfrm>
            <a:off x="7258943" y="3241774"/>
            <a:ext cx="27131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3-15"/>
          <p:cNvSpPr>
            <a:spLocks noGrp="1"/>
          </p:cNvSpPr>
          <p:nvPr/>
        </p:nvSpPr>
        <p:spPr>
          <a:xfrm>
            <a:off x="7210127" y="3375124"/>
            <a:ext cx="36894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可掌握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4-1"/>
          <p:cNvSpPr>
            <a:spLocks noGrp="1"/>
          </p:cNvSpPr>
          <p:nvPr/>
        </p:nvSpPr>
        <p:spPr>
          <a:xfrm>
            <a:off x="1034355" y="639217"/>
            <a:ext cx="155748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CHARGING ACCESS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4-2"/>
          <p:cNvSpPr>
            <a:spLocks noGrp="1"/>
          </p:cNvSpPr>
          <p:nvPr/>
        </p:nvSpPr>
        <p:spPr>
          <a:xfrm>
            <a:off x="746373" y="852488"/>
            <a:ext cx="2683966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826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充电桩对接方式选择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4-3"/>
          <p:cNvSpPr>
            <a:spLocks noGrp="1"/>
          </p:cNvSpPr>
          <p:nvPr/>
        </p:nvSpPr>
        <p:spPr>
          <a:xfrm>
            <a:off x="746373" y="1317278"/>
            <a:ext cx="3532733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对接方式将直接影响后期费用、数据控制权和设备替换能力。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4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4-5"/>
          <p:cNvSpPr>
            <a:spLocks noGrp="1"/>
          </p:cNvSpPr>
          <p:nvPr/>
        </p:nvSpPr>
        <p:spPr>
          <a:xfrm>
            <a:off x="1081385" y="2103983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4-6"/>
          <p:cNvSpPr>
            <a:spLocks noGrp="1"/>
          </p:cNvSpPr>
          <p:nvPr/>
        </p:nvSpPr>
        <p:spPr>
          <a:xfrm>
            <a:off x="1535609" y="2073176"/>
            <a:ext cx="392311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方式一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4-7"/>
          <p:cNvSpPr>
            <a:spLocks noGrp="1"/>
          </p:cNvSpPr>
          <p:nvPr/>
        </p:nvSpPr>
        <p:spPr>
          <a:xfrm>
            <a:off x="1535609" y="2197001"/>
            <a:ext cx="101232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厂家平台对接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4-8"/>
          <p:cNvSpPr>
            <a:spLocks noGrp="1"/>
          </p:cNvSpPr>
          <p:nvPr/>
        </p:nvSpPr>
        <p:spPr>
          <a:xfrm>
            <a:off x="1481286" y="2811066"/>
            <a:ext cx="36150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</a:t>
            </a:r>
            <a:endParaRPr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4-9"/>
          <p:cNvSpPr>
            <a:spLocks noGrp="1"/>
          </p:cNvSpPr>
          <p:nvPr/>
        </p:nvSpPr>
        <p:spPr>
          <a:xfrm>
            <a:off x="2402086" y="2758678"/>
            <a:ext cx="2591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440" b="1" i="0">
              <a:solidFill>
                <a:srgbClr val="8296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4-10"/>
          <p:cNvSpPr>
            <a:spLocks noGrp="1"/>
          </p:cNvSpPr>
          <p:nvPr/>
        </p:nvSpPr>
        <p:spPr>
          <a:xfrm>
            <a:off x="3172867" y="2811066"/>
            <a:ext cx="45645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9A58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9A58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厂家平台</a:t>
            </a:r>
            <a:endParaRPr sz="750" b="1" i="0">
              <a:solidFill>
                <a:srgbClr val="9A58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4-11"/>
          <p:cNvSpPr>
            <a:spLocks noGrp="1"/>
          </p:cNvSpPr>
          <p:nvPr/>
        </p:nvSpPr>
        <p:spPr>
          <a:xfrm>
            <a:off x="4140994" y="2758678"/>
            <a:ext cx="2591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440" b="1" i="0">
              <a:solidFill>
                <a:srgbClr val="8296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4-12"/>
          <p:cNvSpPr>
            <a:spLocks noGrp="1"/>
          </p:cNvSpPr>
          <p:nvPr/>
        </p:nvSpPr>
        <p:spPr>
          <a:xfrm>
            <a:off x="4911775" y="2811066"/>
            <a:ext cx="45645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运营平台</a:t>
            </a:r>
            <a:endParaRPr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4-13"/>
          <p:cNvSpPr>
            <a:spLocks noGrp="1"/>
          </p:cNvSpPr>
          <p:nvPr/>
        </p:nvSpPr>
        <p:spPr>
          <a:xfrm>
            <a:off x="1156097" y="3326606"/>
            <a:ext cx="1222177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充电桩先接入厂家平台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4-14"/>
          <p:cNvSpPr>
            <a:spLocks noGrp="1"/>
          </p:cNvSpPr>
          <p:nvPr/>
        </p:nvSpPr>
        <p:spPr>
          <a:xfrm>
            <a:off x="1156097" y="3512195"/>
            <a:ext cx="156582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接口通常只适用于该厂家设备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4-15"/>
          <p:cNvSpPr>
            <a:spLocks noGrp="1"/>
          </p:cNvSpPr>
          <p:nvPr/>
        </p:nvSpPr>
        <p:spPr>
          <a:xfrm>
            <a:off x="1156097" y="3697784"/>
            <a:ext cx="156582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可能产生接口费、平台服务费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4-16"/>
          <p:cNvSpPr>
            <a:spLocks noGrp="1"/>
          </p:cNvSpPr>
          <p:nvPr/>
        </p:nvSpPr>
        <p:spPr>
          <a:xfrm>
            <a:off x="1156097" y="3883372"/>
            <a:ext cx="156582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容易形成设备与平台双重绑定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4-17"/>
          <p:cNvSpPr>
            <a:spLocks noGrp="1"/>
          </p:cNvSpPr>
          <p:nvPr/>
        </p:nvSpPr>
        <p:spPr>
          <a:xfrm>
            <a:off x="6528197" y="2103983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4-18"/>
          <p:cNvSpPr>
            <a:spLocks noGrp="1"/>
          </p:cNvSpPr>
          <p:nvPr/>
        </p:nvSpPr>
        <p:spPr>
          <a:xfrm>
            <a:off x="6982420" y="2073176"/>
            <a:ext cx="93806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方式二 · 优先建议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4-19"/>
          <p:cNvSpPr>
            <a:spLocks noGrp="1"/>
          </p:cNvSpPr>
          <p:nvPr/>
        </p:nvSpPr>
        <p:spPr>
          <a:xfrm>
            <a:off x="6982420" y="2197001"/>
            <a:ext cx="1168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充电桩设备直连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4-20"/>
          <p:cNvSpPr>
            <a:spLocks noGrp="1"/>
          </p:cNvSpPr>
          <p:nvPr/>
        </p:nvSpPr>
        <p:spPr>
          <a:xfrm>
            <a:off x="6785670" y="2811066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多品牌充电桩</a:t>
            </a:r>
            <a:endParaRPr sz="750" b="1" i="0">
              <a:solidFill>
                <a:srgbClr val="0878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4-21"/>
          <p:cNvSpPr>
            <a:spLocks noGrp="1"/>
          </p:cNvSpPr>
          <p:nvPr/>
        </p:nvSpPr>
        <p:spPr>
          <a:xfrm>
            <a:off x="7848898" y="2758678"/>
            <a:ext cx="2591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440" b="1" i="0">
              <a:solidFill>
                <a:srgbClr val="8296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4-22"/>
          <p:cNvSpPr>
            <a:spLocks noGrp="1"/>
          </p:cNvSpPr>
          <p:nvPr/>
        </p:nvSpPr>
        <p:spPr>
          <a:xfrm>
            <a:off x="8524726" y="2811066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主流设备协议</a:t>
            </a:r>
            <a:endParaRPr sz="750" b="1" i="0">
              <a:solidFill>
                <a:srgbClr val="0878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4-23"/>
          <p:cNvSpPr>
            <a:spLocks noGrp="1"/>
          </p:cNvSpPr>
          <p:nvPr/>
        </p:nvSpPr>
        <p:spPr>
          <a:xfrm>
            <a:off x="9587954" y="2758678"/>
            <a:ext cx="2591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1" i="0">
                <a:solidFill>
                  <a:srgbClr val="8296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440" b="1" i="0">
              <a:solidFill>
                <a:srgbClr val="8296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4-24"/>
          <p:cNvSpPr>
            <a:spLocks noGrp="1"/>
          </p:cNvSpPr>
          <p:nvPr/>
        </p:nvSpPr>
        <p:spPr>
          <a:xfrm>
            <a:off x="10358735" y="2811066"/>
            <a:ext cx="45645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78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运营平台</a:t>
            </a:r>
            <a:endParaRPr sz="750" b="1" i="0">
              <a:solidFill>
                <a:srgbClr val="0878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4-25"/>
          <p:cNvSpPr>
            <a:spLocks noGrp="1"/>
          </p:cNvSpPr>
          <p:nvPr/>
        </p:nvSpPr>
        <p:spPr>
          <a:xfrm>
            <a:off x="6602909" y="3326606"/>
            <a:ext cx="1336774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充电桩直接接入运营平台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4-26"/>
          <p:cNvSpPr>
            <a:spLocks noGrp="1"/>
          </p:cNvSpPr>
          <p:nvPr/>
        </p:nvSpPr>
        <p:spPr>
          <a:xfrm>
            <a:off x="6602909" y="3512195"/>
            <a:ext cx="1222177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可适配多家充电桩设备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4-27"/>
          <p:cNvSpPr>
            <a:spLocks noGrp="1"/>
          </p:cNvSpPr>
          <p:nvPr/>
        </p:nvSpPr>
        <p:spPr>
          <a:xfrm>
            <a:off x="6602909" y="3697784"/>
            <a:ext cx="1680418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运营商直接掌握设备与订单数据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4-28"/>
          <p:cNvSpPr>
            <a:spLocks noGrp="1"/>
          </p:cNvSpPr>
          <p:nvPr/>
        </p:nvSpPr>
        <p:spPr>
          <a:xfrm>
            <a:off x="6602909" y="3883372"/>
            <a:ext cx="1336774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降低设备替换与扩容难度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4-29"/>
          <p:cNvSpPr>
            <a:spLocks noGrp="1"/>
          </p:cNvSpPr>
          <p:nvPr/>
        </p:nvSpPr>
        <p:spPr>
          <a:xfrm>
            <a:off x="944910" y="4683175"/>
            <a:ext cx="4199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4-30"/>
          <p:cNvSpPr>
            <a:spLocks noGrp="1"/>
          </p:cNvSpPr>
          <p:nvPr/>
        </p:nvSpPr>
        <p:spPr>
          <a:xfrm>
            <a:off x="1403300" y="4683175"/>
            <a:ext cx="362843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应明确协议开放、数据归属、接口文档和后续服务费用。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4-31"/>
          <p:cNvSpPr>
            <a:spLocks noGrp="1"/>
          </p:cNvSpPr>
          <p:nvPr/>
        </p:nvSpPr>
        <p:spPr>
          <a:xfrm>
            <a:off x="6954887" y="4672459"/>
            <a:ext cx="822127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建议优先采用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ditable text 4-32"/>
          <p:cNvSpPr>
            <a:spLocks noGrp="1"/>
          </p:cNvSpPr>
          <p:nvPr/>
        </p:nvSpPr>
        <p:spPr>
          <a:xfrm>
            <a:off x="7700814" y="4672459"/>
            <a:ext cx="946398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充电桩设备直连</a:t>
            </a:r>
            <a:endParaRPr sz="980" b="1" i="0">
              <a:solidFill>
                <a:srgbClr val="70E7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ditable text 4-33"/>
          <p:cNvSpPr>
            <a:spLocks noGrp="1"/>
          </p:cNvSpPr>
          <p:nvPr/>
        </p:nvSpPr>
        <p:spPr>
          <a:xfrm>
            <a:off x="8571012" y="4672459"/>
            <a:ext cx="449163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方式。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ditable text 4-34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充电设施与运营闭环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5-1"/>
          <p:cNvSpPr>
            <a:spLocks noGrp="1"/>
          </p:cNvSpPr>
          <p:nvPr/>
        </p:nvSpPr>
        <p:spPr>
          <a:xfrm>
            <a:off x="1034355" y="639217"/>
            <a:ext cx="1464022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 LOOP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5-2"/>
          <p:cNvSpPr>
            <a:spLocks noGrp="1"/>
          </p:cNvSpPr>
          <p:nvPr/>
        </p:nvSpPr>
        <p:spPr>
          <a:xfrm>
            <a:off x="746373" y="852488"/>
            <a:ext cx="442242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707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设备只是入口，运营闭环才是结果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5-3"/>
          <p:cNvSpPr>
            <a:spLocks noGrp="1"/>
          </p:cNvSpPr>
          <p:nvPr/>
        </p:nvSpPr>
        <p:spPr>
          <a:xfrm>
            <a:off x="746373" y="1317278"/>
            <a:ext cx="3276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识别、控制、订单、收费和异常处理必须形成统一联动。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5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5-5"/>
          <p:cNvSpPr>
            <a:spLocks noGrp="1"/>
          </p:cNvSpPr>
          <p:nvPr/>
        </p:nvSpPr>
        <p:spPr>
          <a:xfrm>
            <a:off x="3431391" y="3778171"/>
            <a:ext cx="534591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lang="zh-CN"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5-7"/>
          <p:cNvSpPr>
            <a:spLocks noGrp="1"/>
          </p:cNvSpPr>
          <p:nvPr/>
        </p:nvSpPr>
        <p:spPr>
          <a:xfrm>
            <a:off x="1381571" y="2366814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车辆与车位识别</a:t>
            </a:r>
            <a:endParaRPr sz="750" b="1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5-8"/>
          <p:cNvSpPr>
            <a:spLocks noGrp="1"/>
          </p:cNvSpPr>
          <p:nvPr/>
        </p:nvSpPr>
        <p:spPr>
          <a:xfrm>
            <a:off x="5074890" y="2366814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地锁与道闸控制</a:t>
            </a:r>
            <a:endParaRPr sz="750" b="1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5-9"/>
          <p:cNvSpPr>
            <a:spLocks noGrp="1"/>
          </p:cNvSpPr>
          <p:nvPr/>
        </p:nvSpPr>
        <p:spPr>
          <a:xfrm>
            <a:off x="5074890" y="5044529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订单与费用结算</a:t>
            </a:r>
            <a:endParaRPr sz="750" b="1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5-10"/>
          <p:cNvSpPr>
            <a:spLocks noGrp="1"/>
          </p:cNvSpPr>
          <p:nvPr/>
        </p:nvSpPr>
        <p:spPr>
          <a:xfrm>
            <a:off x="1381571" y="5044529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异常处理与追踪</a:t>
            </a:r>
            <a:endParaRPr sz="750" b="1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5-11"/>
          <p:cNvSpPr>
            <a:spLocks noGrp="1"/>
          </p:cNvSpPr>
          <p:nvPr/>
        </p:nvSpPr>
        <p:spPr>
          <a:xfrm>
            <a:off x="7306717" y="2711351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5-12"/>
          <p:cNvSpPr>
            <a:spLocks noGrp="1"/>
          </p:cNvSpPr>
          <p:nvPr/>
        </p:nvSpPr>
        <p:spPr>
          <a:xfrm>
            <a:off x="7760940" y="2643634"/>
            <a:ext cx="844302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数据直接掌握</a:t>
            </a:r>
            <a:endParaRPr sz="101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5-13"/>
          <p:cNvSpPr>
            <a:spLocks noGrp="1"/>
          </p:cNvSpPr>
          <p:nvPr/>
        </p:nvSpPr>
        <p:spPr>
          <a:xfrm>
            <a:off x="7760940" y="2869406"/>
            <a:ext cx="2943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设备状态、充电订单、停车订单和支付结果进入同一数据体系。</a:t>
            </a:r>
            <a:endParaRPr sz="805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5-14"/>
          <p:cNvSpPr>
            <a:spLocks noGrp="1"/>
          </p:cNvSpPr>
          <p:nvPr/>
        </p:nvSpPr>
        <p:spPr>
          <a:xfrm>
            <a:off x="7306717" y="363899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5-15"/>
          <p:cNvSpPr>
            <a:spLocks noGrp="1"/>
          </p:cNvSpPr>
          <p:nvPr/>
        </p:nvSpPr>
        <p:spPr>
          <a:xfrm>
            <a:off x="7760940" y="3571280"/>
            <a:ext cx="844302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业务自动联动</a:t>
            </a:r>
            <a:endParaRPr sz="101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5-16"/>
          <p:cNvSpPr>
            <a:spLocks noGrp="1"/>
          </p:cNvSpPr>
          <p:nvPr/>
        </p:nvSpPr>
        <p:spPr>
          <a:xfrm>
            <a:off x="7760940" y="3797052"/>
            <a:ext cx="304561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根据车辆、充电状态和收费规则自动控制设备，不依赖人工判断。</a:t>
            </a:r>
            <a:endParaRPr sz="805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5-17"/>
          <p:cNvSpPr>
            <a:spLocks noGrp="1"/>
          </p:cNvSpPr>
          <p:nvPr/>
        </p:nvSpPr>
        <p:spPr>
          <a:xfrm>
            <a:off x="7306717" y="4566642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5-18"/>
          <p:cNvSpPr>
            <a:spLocks noGrp="1"/>
          </p:cNvSpPr>
          <p:nvPr/>
        </p:nvSpPr>
        <p:spPr>
          <a:xfrm>
            <a:off x="7760940" y="4498925"/>
            <a:ext cx="71631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设备可替换</a:t>
            </a:r>
            <a:endParaRPr sz="101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5-19"/>
          <p:cNvSpPr>
            <a:spLocks noGrp="1"/>
          </p:cNvSpPr>
          <p:nvPr/>
        </p:nvSpPr>
        <p:spPr>
          <a:xfrm>
            <a:off x="7760940" y="4724698"/>
            <a:ext cx="23288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通过统一接口和协议减少对单一厂家的长期依赖。</a:t>
            </a:r>
            <a:endParaRPr sz="805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5-20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充电设施与运营闭环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6-1"/>
          <p:cNvSpPr>
            <a:spLocks noGrp="1"/>
          </p:cNvSpPr>
          <p:nvPr/>
        </p:nvSpPr>
        <p:spPr>
          <a:xfrm>
            <a:off x="1034355" y="639217"/>
            <a:ext cx="179724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PARKING OCCUPANCY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6-2"/>
          <p:cNvSpPr>
            <a:spLocks noGrp="1"/>
          </p:cNvSpPr>
          <p:nvPr/>
        </p:nvSpPr>
        <p:spPr>
          <a:xfrm>
            <a:off x="746373" y="852488"/>
            <a:ext cx="21044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充电车位防占用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6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6-5"/>
          <p:cNvSpPr>
            <a:spLocks noGrp="1"/>
          </p:cNvSpPr>
          <p:nvPr/>
        </p:nvSpPr>
        <p:spPr>
          <a:xfrm>
            <a:off x="746373" y="1773138"/>
            <a:ext cx="81364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需要解决的问题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6-6"/>
          <p:cNvSpPr>
            <a:spLocks noGrp="1"/>
          </p:cNvSpPr>
          <p:nvPr/>
        </p:nvSpPr>
        <p:spPr>
          <a:xfrm>
            <a:off x="1008757" y="221411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</a:t>
            </a:r>
            <a:endParaRPr sz="1585" b="1" i="0">
              <a:solidFill>
                <a:srgbClr val="E3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6-7"/>
          <p:cNvSpPr>
            <a:spLocks noGrp="1"/>
          </p:cNvSpPr>
          <p:nvPr/>
        </p:nvSpPr>
        <p:spPr>
          <a:xfrm>
            <a:off x="1462980" y="2276029"/>
            <a:ext cx="1256109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非充电车辆占用充电车位</a:t>
            </a:r>
            <a:endParaRPr sz="845" b="1" i="0">
              <a:solidFill>
                <a:srgbClr val="9B34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6-8"/>
          <p:cNvSpPr>
            <a:spLocks noGrp="1"/>
          </p:cNvSpPr>
          <p:nvPr/>
        </p:nvSpPr>
        <p:spPr>
          <a:xfrm>
            <a:off x="1008757" y="301942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</a:t>
            </a:r>
            <a:endParaRPr sz="1585" b="1" i="0">
              <a:solidFill>
                <a:srgbClr val="E3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6-9"/>
          <p:cNvSpPr>
            <a:spLocks noGrp="1"/>
          </p:cNvSpPr>
          <p:nvPr/>
        </p:nvSpPr>
        <p:spPr>
          <a:xfrm>
            <a:off x="1462980" y="3081338"/>
            <a:ext cx="1256109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充电完成后长时间不驶离</a:t>
            </a:r>
            <a:endParaRPr sz="845" b="1" i="0">
              <a:solidFill>
                <a:srgbClr val="9B34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6-10"/>
          <p:cNvSpPr>
            <a:spLocks noGrp="1"/>
          </p:cNvSpPr>
          <p:nvPr/>
        </p:nvSpPr>
        <p:spPr>
          <a:xfrm>
            <a:off x="1008757" y="3824734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E34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</a:t>
            </a:r>
            <a:endParaRPr sz="1585" b="1" i="0">
              <a:solidFill>
                <a:srgbClr val="E34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6-11"/>
          <p:cNvSpPr>
            <a:spLocks noGrp="1"/>
          </p:cNvSpPr>
          <p:nvPr/>
        </p:nvSpPr>
        <p:spPr>
          <a:xfrm>
            <a:off x="1462980" y="3886646"/>
            <a:ext cx="157772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9B34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车位状态不准，到场后无法使用</a:t>
            </a:r>
            <a:endParaRPr sz="845" b="1" i="0">
              <a:solidFill>
                <a:srgbClr val="9B34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6-12"/>
          <p:cNvSpPr>
            <a:spLocks noGrp="1"/>
          </p:cNvSpPr>
          <p:nvPr/>
        </p:nvSpPr>
        <p:spPr>
          <a:xfrm>
            <a:off x="5687467" y="1773138"/>
            <a:ext cx="70827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可选择的设备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6-13"/>
          <p:cNvSpPr>
            <a:spLocks noGrp="1"/>
          </p:cNvSpPr>
          <p:nvPr/>
        </p:nvSpPr>
        <p:spPr>
          <a:xfrm>
            <a:off x="5949851" y="221411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6-14"/>
          <p:cNvSpPr>
            <a:spLocks noGrp="1"/>
          </p:cNvSpPr>
          <p:nvPr/>
        </p:nvSpPr>
        <p:spPr>
          <a:xfrm>
            <a:off x="6373564" y="2276029"/>
            <a:ext cx="5052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普通地锁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6-15"/>
          <p:cNvSpPr>
            <a:spLocks noGrp="1"/>
          </p:cNvSpPr>
          <p:nvPr/>
        </p:nvSpPr>
        <p:spPr>
          <a:xfrm>
            <a:off x="8858994" y="221411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6-16"/>
          <p:cNvSpPr>
            <a:spLocks noGrp="1"/>
          </p:cNvSpPr>
          <p:nvPr/>
        </p:nvSpPr>
        <p:spPr>
          <a:xfrm>
            <a:off x="9282708" y="2276029"/>
            <a:ext cx="5052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下沉地锁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6-17"/>
          <p:cNvSpPr>
            <a:spLocks noGrp="1"/>
          </p:cNvSpPr>
          <p:nvPr/>
        </p:nvSpPr>
        <p:spPr>
          <a:xfrm>
            <a:off x="5949851" y="301942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闸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6-18"/>
          <p:cNvSpPr>
            <a:spLocks noGrp="1"/>
          </p:cNvSpPr>
          <p:nvPr/>
        </p:nvSpPr>
        <p:spPr>
          <a:xfrm>
            <a:off x="6373564" y="3081338"/>
            <a:ext cx="5052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车位道闸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6-19"/>
          <p:cNvSpPr>
            <a:spLocks noGrp="1"/>
          </p:cNvSpPr>
          <p:nvPr/>
        </p:nvSpPr>
        <p:spPr>
          <a:xfrm>
            <a:off x="8858994" y="301942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</a:t>
            </a:r>
            <a:endParaRPr sz="1585" b="1" i="0">
              <a:solidFill>
                <a:srgbClr val="6B4D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6-20"/>
          <p:cNvSpPr>
            <a:spLocks noGrp="1"/>
          </p:cNvSpPr>
          <p:nvPr/>
        </p:nvSpPr>
        <p:spPr>
          <a:xfrm>
            <a:off x="9282708" y="3081338"/>
            <a:ext cx="9343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车位车牌识别相机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6-21"/>
          <p:cNvSpPr>
            <a:spLocks noGrp="1"/>
          </p:cNvSpPr>
          <p:nvPr/>
        </p:nvSpPr>
        <p:spPr>
          <a:xfrm>
            <a:off x="5886004" y="3777555"/>
            <a:ext cx="4199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6-22"/>
          <p:cNvSpPr>
            <a:spLocks noGrp="1"/>
          </p:cNvSpPr>
          <p:nvPr/>
        </p:nvSpPr>
        <p:spPr>
          <a:xfrm>
            <a:off x="6344394" y="3777555"/>
            <a:ext cx="3055441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提前设计车辆识别、设备控制、充电判断和异常处理流程。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6-23"/>
          <p:cNvSpPr>
            <a:spLocks noGrp="1"/>
          </p:cNvSpPr>
          <p:nvPr/>
        </p:nvSpPr>
        <p:spPr>
          <a:xfrm>
            <a:off x="1803202" y="4790331"/>
            <a:ext cx="1468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 i="0">
              <a:solidFill>
                <a:srgbClr val="0621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6-24"/>
          <p:cNvSpPr>
            <a:spLocks noGrp="1"/>
          </p:cNvSpPr>
          <p:nvPr/>
        </p:nvSpPr>
        <p:spPr>
          <a:xfrm>
            <a:off x="1663154" y="5059263"/>
            <a:ext cx="42713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车辆识别</a:t>
            </a:r>
            <a:endParaRPr sz="6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6-25"/>
          <p:cNvSpPr>
            <a:spLocks noGrp="1"/>
          </p:cNvSpPr>
          <p:nvPr/>
        </p:nvSpPr>
        <p:spPr>
          <a:xfrm>
            <a:off x="2824460" y="4845546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69DD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6-26"/>
          <p:cNvSpPr>
            <a:spLocks noGrp="1"/>
          </p:cNvSpPr>
          <p:nvPr/>
        </p:nvSpPr>
        <p:spPr>
          <a:xfrm>
            <a:off x="3927128" y="4790331"/>
            <a:ext cx="1468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 i="0">
              <a:solidFill>
                <a:srgbClr val="0621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6-27"/>
          <p:cNvSpPr>
            <a:spLocks noGrp="1"/>
          </p:cNvSpPr>
          <p:nvPr/>
        </p:nvSpPr>
        <p:spPr>
          <a:xfrm>
            <a:off x="3787080" y="5059263"/>
            <a:ext cx="42713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设备控制</a:t>
            </a:r>
            <a:endParaRPr sz="6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6-28"/>
          <p:cNvSpPr>
            <a:spLocks noGrp="1"/>
          </p:cNvSpPr>
          <p:nvPr/>
        </p:nvSpPr>
        <p:spPr>
          <a:xfrm>
            <a:off x="4948238" y="4845546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69DD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6-29"/>
          <p:cNvSpPr>
            <a:spLocks noGrp="1"/>
          </p:cNvSpPr>
          <p:nvPr/>
        </p:nvSpPr>
        <p:spPr>
          <a:xfrm>
            <a:off x="6050905" y="4790331"/>
            <a:ext cx="1468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 i="0">
              <a:solidFill>
                <a:srgbClr val="0621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6-30"/>
          <p:cNvSpPr>
            <a:spLocks noGrp="1"/>
          </p:cNvSpPr>
          <p:nvPr/>
        </p:nvSpPr>
        <p:spPr>
          <a:xfrm>
            <a:off x="5910858" y="5059263"/>
            <a:ext cx="42713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充电判断</a:t>
            </a:r>
            <a:endParaRPr sz="6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6-31"/>
          <p:cNvSpPr>
            <a:spLocks noGrp="1"/>
          </p:cNvSpPr>
          <p:nvPr/>
        </p:nvSpPr>
        <p:spPr>
          <a:xfrm>
            <a:off x="7072164" y="4845546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69DD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ditable text 6-32"/>
          <p:cNvSpPr>
            <a:spLocks noGrp="1"/>
          </p:cNvSpPr>
          <p:nvPr/>
        </p:nvSpPr>
        <p:spPr>
          <a:xfrm>
            <a:off x="8174831" y="4790331"/>
            <a:ext cx="1468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1" i="0">
              <a:solidFill>
                <a:srgbClr val="0621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ditable text 6-33"/>
          <p:cNvSpPr>
            <a:spLocks noGrp="1"/>
          </p:cNvSpPr>
          <p:nvPr/>
        </p:nvSpPr>
        <p:spPr>
          <a:xfrm>
            <a:off x="8034784" y="5059263"/>
            <a:ext cx="42713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费用联动</a:t>
            </a:r>
            <a:endParaRPr sz="6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ditable text 6-34"/>
          <p:cNvSpPr>
            <a:spLocks noGrp="1"/>
          </p:cNvSpPr>
          <p:nvPr/>
        </p:nvSpPr>
        <p:spPr>
          <a:xfrm>
            <a:off x="9196090" y="4845546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69D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69DD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ditable text 6-35"/>
          <p:cNvSpPr>
            <a:spLocks noGrp="1"/>
          </p:cNvSpPr>
          <p:nvPr/>
        </p:nvSpPr>
        <p:spPr>
          <a:xfrm>
            <a:off x="10298757" y="4790331"/>
            <a:ext cx="1468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0621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1" i="0">
              <a:solidFill>
                <a:srgbClr val="0621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ditable text 6-36"/>
          <p:cNvSpPr>
            <a:spLocks noGrp="1"/>
          </p:cNvSpPr>
          <p:nvPr/>
        </p:nvSpPr>
        <p:spPr>
          <a:xfrm>
            <a:off x="10158710" y="5059263"/>
            <a:ext cx="42713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  <a:endParaRPr sz="6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ditable text 6-37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充电设施与运营闭环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7-1"/>
          <p:cNvSpPr>
            <a:spLocks noGrp="1"/>
          </p:cNvSpPr>
          <p:nvPr/>
        </p:nvSpPr>
        <p:spPr>
          <a:xfrm>
            <a:off x="1034355" y="639217"/>
            <a:ext cx="120044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OVERTIME FEE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7-2"/>
          <p:cNvSpPr>
            <a:spLocks noGrp="1"/>
          </p:cNvSpPr>
          <p:nvPr/>
        </p:nvSpPr>
        <p:spPr>
          <a:xfrm>
            <a:off x="746373" y="852488"/>
            <a:ext cx="32635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306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充电完成后的超时占用费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7-3"/>
          <p:cNvSpPr>
            <a:spLocks noGrp="1"/>
          </p:cNvSpPr>
          <p:nvPr/>
        </p:nvSpPr>
        <p:spPr>
          <a:xfrm>
            <a:off x="746373" y="1317278"/>
            <a:ext cx="3276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账单生成不等于费用收取，必须先设计可靠的收费入口。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7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7-5"/>
          <p:cNvSpPr>
            <a:spLocks noGrp="1"/>
          </p:cNvSpPr>
          <p:nvPr/>
        </p:nvSpPr>
        <p:spPr>
          <a:xfrm>
            <a:off x="1065163" y="205918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7-6"/>
          <p:cNvSpPr>
            <a:spLocks noGrp="1"/>
          </p:cNvSpPr>
          <p:nvPr/>
        </p:nvSpPr>
        <p:spPr>
          <a:xfrm>
            <a:off x="964704" y="2594818"/>
            <a:ext cx="392311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方式一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7-7"/>
          <p:cNvSpPr>
            <a:spLocks noGrp="1"/>
          </p:cNvSpPr>
          <p:nvPr/>
        </p:nvSpPr>
        <p:spPr>
          <a:xfrm>
            <a:off x="964704" y="2773263"/>
            <a:ext cx="101232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充电账户支付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7-8"/>
          <p:cNvSpPr>
            <a:spLocks noGrp="1"/>
          </p:cNvSpPr>
          <p:nvPr/>
        </p:nvSpPr>
        <p:spPr>
          <a:xfrm>
            <a:off x="1139875" y="3109317"/>
            <a:ext cx="1451372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从车主充电账户余额中扣除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7-9"/>
          <p:cNvSpPr>
            <a:spLocks noGrp="1"/>
          </p:cNvSpPr>
          <p:nvPr/>
        </p:nvSpPr>
        <p:spPr>
          <a:xfrm>
            <a:off x="1139875" y="3294906"/>
            <a:ext cx="1451372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通过签约支付方式自动扣除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7-10"/>
          <p:cNvSpPr>
            <a:spLocks noGrp="1"/>
          </p:cNvSpPr>
          <p:nvPr/>
        </p:nvSpPr>
        <p:spPr>
          <a:xfrm>
            <a:off x="1139875" y="3480495"/>
            <a:ext cx="156582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适合具有成熟账户体系的平台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7-11"/>
          <p:cNvSpPr>
            <a:spLocks noGrp="1"/>
          </p:cNvSpPr>
          <p:nvPr/>
        </p:nvSpPr>
        <p:spPr>
          <a:xfrm>
            <a:off x="6522690" y="2059186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7-12"/>
          <p:cNvSpPr>
            <a:spLocks noGrp="1"/>
          </p:cNvSpPr>
          <p:nvPr/>
        </p:nvSpPr>
        <p:spPr>
          <a:xfrm>
            <a:off x="6422231" y="2594818"/>
            <a:ext cx="392311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69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69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方式二</a:t>
            </a:r>
            <a:endParaRPr sz="770" b="1" i="0">
              <a:solidFill>
                <a:srgbClr val="69E0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7-13"/>
          <p:cNvSpPr>
            <a:spLocks noGrp="1"/>
          </p:cNvSpPr>
          <p:nvPr/>
        </p:nvSpPr>
        <p:spPr>
          <a:xfrm>
            <a:off x="6422231" y="2773263"/>
            <a:ext cx="148039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停车场出口合并支付</a:t>
            </a:r>
            <a:endParaRPr sz="123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7-14"/>
          <p:cNvSpPr>
            <a:spLocks noGrp="1"/>
          </p:cNvSpPr>
          <p:nvPr/>
        </p:nvSpPr>
        <p:spPr>
          <a:xfrm>
            <a:off x="6597402" y="3109317"/>
            <a:ext cx="1795016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停车费、充电费、占用费统一结算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7-15"/>
          <p:cNvSpPr>
            <a:spLocks noGrp="1"/>
          </p:cNvSpPr>
          <p:nvPr/>
        </p:nvSpPr>
        <p:spPr>
          <a:xfrm>
            <a:off x="6597402" y="3294906"/>
            <a:ext cx="1680418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车辆完成缴费后才能驶离停车场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7-16"/>
          <p:cNvSpPr>
            <a:spLocks noGrp="1"/>
          </p:cNvSpPr>
          <p:nvPr/>
        </p:nvSpPr>
        <p:spPr>
          <a:xfrm>
            <a:off x="6597402" y="3480495"/>
            <a:ext cx="1336774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形成更加可靠的收费约束</a:t>
            </a:r>
            <a:endParaRPr sz="9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7-17"/>
          <p:cNvSpPr>
            <a:spLocks noGrp="1"/>
          </p:cNvSpPr>
          <p:nvPr/>
        </p:nvSpPr>
        <p:spPr>
          <a:xfrm>
            <a:off x="1715839" y="4235053"/>
            <a:ext cx="21967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⏱</a:t>
            </a:r>
            <a:endParaRPr sz="125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7-18"/>
          <p:cNvSpPr>
            <a:spLocks noGrp="1"/>
          </p:cNvSpPr>
          <p:nvPr/>
        </p:nvSpPr>
        <p:spPr>
          <a:xfrm>
            <a:off x="1555998" y="4495502"/>
            <a:ext cx="53920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免费缓冲期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7-19"/>
          <p:cNvSpPr>
            <a:spLocks noGrp="1"/>
          </p:cNvSpPr>
          <p:nvPr/>
        </p:nvSpPr>
        <p:spPr>
          <a:xfrm>
            <a:off x="3890367" y="4235053"/>
            <a:ext cx="16921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</a:t>
            </a:r>
            <a:endParaRPr sz="125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7-20"/>
          <p:cNvSpPr>
            <a:spLocks noGrp="1"/>
          </p:cNvSpPr>
          <p:nvPr/>
        </p:nvSpPr>
        <p:spPr>
          <a:xfrm>
            <a:off x="3751659" y="4495502"/>
            <a:ext cx="44663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收费标准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7-21"/>
          <p:cNvSpPr>
            <a:spLocks noGrp="1"/>
          </p:cNvSpPr>
          <p:nvPr/>
        </p:nvSpPr>
        <p:spPr>
          <a:xfrm>
            <a:off x="6007150" y="4244578"/>
            <a:ext cx="23470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⇧</a:t>
            </a:r>
            <a:endParaRPr sz="125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7-22"/>
          <p:cNvSpPr>
            <a:spLocks noGrp="1"/>
          </p:cNvSpPr>
          <p:nvPr/>
        </p:nvSpPr>
        <p:spPr>
          <a:xfrm>
            <a:off x="5901184" y="4514552"/>
            <a:ext cx="44663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单日上限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7-23"/>
          <p:cNvSpPr>
            <a:spLocks noGrp="1"/>
          </p:cNvSpPr>
          <p:nvPr/>
        </p:nvSpPr>
        <p:spPr>
          <a:xfrm>
            <a:off x="8210996" y="4235053"/>
            <a:ext cx="12576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</a:t>
            </a:r>
            <a:endParaRPr sz="125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7-24"/>
          <p:cNvSpPr>
            <a:spLocks noGrp="1"/>
          </p:cNvSpPr>
          <p:nvPr/>
        </p:nvSpPr>
        <p:spPr>
          <a:xfrm>
            <a:off x="7957989" y="4495502"/>
            <a:ext cx="631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余额不足处理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7-25"/>
          <p:cNvSpPr>
            <a:spLocks noGrp="1"/>
          </p:cNvSpPr>
          <p:nvPr/>
        </p:nvSpPr>
        <p:spPr>
          <a:xfrm>
            <a:off x="10316914" y="4235053"/>
            <a:ext cx="212973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5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↩</a:t>
            </a:r>
            <a:endParaRPr sz="125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7-26"/>
          <p:cNvSpPr>
            <a:spLocks noGrp="1"/>
          </p:cNvSpPr>
          <p:nvPr/>
        </p:nvSpPr>
        <p:spPr>
          <a:xfrm>
            <a:off x="10153799" y="4495502"/>
            <a:ext cx="53920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申诉与退款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7-27"/>
          <p:cNvSpPr>
            <a:spLocks noGrp="1"/>
          </p:cNvSpPr>
          <p:nvPr/>
        </p:nvSpPr>
        <p:spPr>
          <a:xfrm>
            <a:off x="944910" y="5049441"/>
            <a:ext cx="649188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防坑提示：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7-28"/>
          <p:cNvSpPr>
            <a:spLocks noGrp="1"/>
          </p:cNvSpPr>
          <p:nvPr/>
        </p:nvSpPr>
        <p:spPr>
          <a:xfrm>
            <a:off x="1632496" y="5049441"/>
            <a:ext cx="3743027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没有可靠收费入口，占用费只能形成账单，无法真正约束车辆及时离开。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7-29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充电设施与运营闭环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8-1"/>
          <p:cNvSpPr>
            <a:spLocks noGrp="1"/>
          </p:cNvSpPr>
          <p:nvPr/>
        </p:nvSpPr>
        <p:spPr>
          <a:xfrm>
            <a:off x="1034355" y="639217"/>
            <a:ext cx="1927324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EQUIPMENT STANDARD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8-2"/>
          <p:cNvSpPr>
            <a:spLocks noGrp="1"/>
          </p:cNvSpPr>
          <p:nvPr/>
        </p:nvSpPr>
        <p:spPr>
          <a:xfrm>
            <a:off x="746373" y="852488"/>
            <a:ext cx="355312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131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停车场设备统一化和标准化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8-3"/>
          <p:cNvSpPr>
            <a:spLocks noGrp="1"/>
          </p:cNvSpPr>
          <p:nvPr/>
        </p:nvSpPr>
        <p:spPr>
          <a:xfrm>
            <a:off x="746373" y="1317278"/>
            <a:ext cx="3020616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控制品牌、型号和接口数量，降低长期运维复杂度。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8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8-5"/>
          <p:cNvSpPr>
            <a:spLocks noGrp="1"/>
          </p:cNvSpPr>
          <p:nvPr/>
        </p:nvSpPr>
        <p:spPr>
          <a:xfrm>
            <a:off x="1498699" y="1917799"/>
            <a:ext cx="29572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◉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8-6"/>
          <p:cNvSpPr>
            <a:spLocks noGrp="1"/>
          </p:cNvSpPr>
          <p:nvPr/>
        </p:nvSpPr>
        <p:spPr>
          <a:xfrm>
            <a:off x="1330672" y="2311747"/>
            <a:ext cx="631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车牌识别相机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8-7"/>
          <p:cNvSpPr>
            <a:spLocks noGrp="1"/>
          </p:cNvSpPr>
          <p:nvPr/>
        </p:nvSpPr>
        <p:spPr>
          <a:xfrm>
            <a:off x="3333750" y="1908274"/>
            <a:ext cx="207913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╱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8-8"/>
          <p:cNvSpPr>
            <a:spLocks noGrp="1"/>
          </p:cNvSpPr>
          <p:nvPr/>
        </p:nvSpPr>
        <p:spPr>
          <a:xfrm>
            <a:off x="3306961" y="2292697"/>
            <a:ext cx="26149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道闸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8-9"/>
          <p:cNvSpPr>
            <a:spLocks noGrp="1"/>
          </p:cNvSpPr>
          <p:nvPr/>
        </p:nvSpPr>
        <p:spPr>
          <a:xfrm>
            <a:off x="5080992" y="1917799"/>
            <a:ext cx="29572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▣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8-10"/>
          <p:cNvSpPr>
            <a:spLocks noGrp="1"/>
          </p:cNvSpPr>
          <p:nvPr/>
        </p:nvSpPr>
        <p:spPr>
          <a:xfrm>
            <a:off x="5051822" y="2311747"/>
            <a:ext cx="35406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显示屏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8-11"/>
          <p:cNvSpPr>
            <a:spLocks noGrp="1"/>
          </p:cNvSpPr>
          <p:nvPr/>
        </p:nvSpPr>
        <p:spPr>
          <a:xfrm>
            <a:off x="6872139" y="1917799"/>
            <a:ext cx="295721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▶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8-12"/>
          <p:cNvSpPr>
            <a:spLocks noGrp="1"/>
          </p:cNvSpPr>
          <p:nvPr/>
        </p:nvSpPr>
        <p:spPr>
          <a:xfrm>
            <a:off x="6796683" y="2311747"/>
            <a:ext cx="44663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视频监控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8-13"/>
          <p:cNvSpPr>
            <a:spLocks noGrp="1"/>
          </p:cNvSpPr>
          <p:nvPr/>
        </p:nvSpPr>
        <p:spPr>
          <a:xfrm>
            <a:off x="8681442" y="1903512"/>
            <a:ext cx="259556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◖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8-14"/>
          <p:cNvSpPr>
            <a:spLocks noGrp="1"/>
          </p:cNvSpPr>
          <p:nvPr/>
        </p:nvSpPr>
        <p:spPr>
          <a:xfrm>
            <a:off x="8587978" y="2297460"/>
            <a:ext cx="44663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对讲设备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8-15"/>
          <p:cNvSpPr>
            <a:spLocks noGrp="1"/>
          </p:cNvSpPr>
          <p:nvPr/>
        </p:nvSpPr>
        <p:spPr>
          <a:xfrm>
            <a:off x="10497443" y="1903512"/>
            <a:ext cx="209848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30" b="0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⌁</a:t>
            </a:r>
            <a:endParaRPr sz="1730" b="0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8-16"/>
          <p:cNvSpPr>
            <a:spLocks noGrp="1"/>
          </p:cNvSpPr>
          <p:nvPr/>
        </p:nvSpPr>
        <p:spPr>
          <a:xfrm>
            <a:off x="10379125" y="2297460"/>
            <a:ext cx="44663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网络设备</a:t>
            </a:r>
            <a:endParaRPr sz="7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8-17"/>
          <p:cNvSpPr>
            <a:spLocks noGrp="1"/>
          </p:cNvSpPr>
          <p:nvPr/>
        </p:nvSpPr>
        <p:spPr>
          <a:xfrm>
            <a:off x="974527" y="2946648"/>
            <a:ext cx="14391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8-18"/>
          <p:cNvSpPr>
            <a:spLocks noGrp="1"/>
          </p:cNvSpPr>
          <p:nvPr/>
        </p:nvSpPr>
        <p:spPr>
          <a:xfrm>
            <a:off x="1270546" y="2946648"/>
            <a:ext cx="1685032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尽量统一设备技术标准和接口标准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8-19"/>
          <p:cNvSpPr>
            <a:spLocks noGrp="1"/>
          </p:cNvSpPr>
          <p:nvPr/>
        </p:nvSpPr>
        <p:spPr>
          <a:xfrm>
            <a:off x="974527" y="3476774"/>
            <a:ext cx="14391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8-20"/>
          <p:cNvSpPr>
            <a:spLocks noGrp="1"/>
          </p:cNvSpPr>
          <p:nvPr/>
        </p:nvSpPr>
        <p:spPr>
          <a:xfrm>
            <a:off x="1270546" y="3476774"/>
            <a:ext cx="222126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控制设备种类，避免每个停车场采用不同方案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8-21"/>
          <p:cNvSpPr>
            <a:spLocks noGrp="1"/>
          </p:cNvSpPr>
          <p:nvPr/>
        </p:nvSpPr>
        <p:spPr>
          <a:xfrm>
            <a:off x="974527" y="4006900"/>
            <a:ext cx="143917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8-22"/>
          <p:cNvSpPr>
            <a:spLocks noGrp="1"/>
          </p:cNvSpPr>
          <p:nvPr/>
        </p:nvSpPr>
        <p:spPr>
          <a:xfrm>
            <a:off x="1270546" y="4006900"/>
            <a:ext cx="189949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4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优先采用设备直连，减少厂家平台依赖</a:t>
            </a:r>
            <a:endParaRPr sz="84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8-23"/>
          <p:cNvSpPr>
            <a:spLocks noGrp="1"/>
          </p:cNvSpPr>
          <p:nvPr/>
        </p:nvSpPr>
        <p:spPr>
          <a:xfrm>
            <a:off x="944910" y="4523929"/>
            <a:ext cx="4199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8-24"/>
          <p:cNvSpPr>
            <a:spLocks noGrp="1"/>
          </p:cNvSpPr>
          <p:nvPr/>
        </p:nvSpPr>
        <p:spPr>
          <a:xfrm>
            <a:off x="1403300" y="4523929"/>
            <a:ext cx="3513832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厂家平台对接可能产生接口费、平台服务费，并形成单一厂家绑定。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8-25"/>
          <p:cNvSpPr>
            <a:spLocks noGrp="1"/>
          </p:cNvSpPr>
          <p:nvPr/>
        </p:nvSpPr>
        <p:spPr>
          <a:xfrm>
            <a:off x="6868864" y="3108275"/>
            <a:ext cx="661541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接口对接</a:t>
            </a:r>
            <a:endParaRPr sz="1150" b="1" i="0">
              <a:solidFill>
                <a:srgbClr val="70E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8-26"/>
          <p:cNvSpPr>
            <a:spLocks noGrp="1"/>
          </p:cNvSpPr>
          <p:nvPr/>
        </p:nvSpPr>
        <p:spPr>
          <a:xfrm>
            <a:off x="6868864" y="3338215"/>
            <a:ext cx="112901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品牌越多，适配工作越复杂</a:t>
            </a:r>
            <a:endParaRPr sz="690" b="0" i="0">
              <a:solidFill>
                <a:srgbClr val="D6E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8-27"/>
          <p:cNvSpPr>
            <a:spLocks noGrp="1"/>
          </p:cNvSpPr>
          <p:nvPr/>
        </p:nvSpPr>
        <p:spPr>
          <a:xfrm>
            <a:off x="9257407" y="3108275"/>
            <a:ext cx="661541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人员培训</a:t>
            </a:r>
            <a:endParaRPr sz="1150" b="1" i="0">
              <a:solidFill>
                <a:srgbClr val="70E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8-28"/>
          <p:cNvSpPr>
            <a:spLocks noGrp="1"/>
          </p:cNvSpPr>
          <p:nvPr/>
        </p:nvSpPr>
        <p:spPr>
          <a:xfrm>
            <a:off x="9257407" y="3338215"/>
            <a:ext cx="112901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不同设备需要不同操作方式</a:t>
            </a:r>
            <a:endParaRPr sz="690" b="0" i="0">
              <a:solidFill>
                <a:srgbClr val="D6E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8-29"/>
          <p:cNvSpPr>
            <a:spLocks noGrp="1"/>
          </p:cNvSpPr>
          <p:nvPr/>
        </p:nvSpPr>
        <p:spPr>
          <a:xfrm>
            <a:off x="6868864" y="4163318"/>
            <a:ext cx="661541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备品备件</a:t>
            </a:r>
            <a:endParaRPr sz="1150" b="1" i="0">
              <a:solidFill>
                <a:srgbClr val="70E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8-30"/>
          <p:cNvSpPr>
            <a:spLocks noGrp="1"/>
          </p:cNvSpPr>
          <p:nvPr/>
        </p:nvSpPr>
        <p:spPr>
          <a:xfrm>
            <a:off x="6868864" y="4393257"/>
            <a:ext cx="112901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型号过多导致库存成本增加</a:t>
            </a:r>
            <a:endParaRPr sz="690" b="0" i="0">
              <a:solidFill>
                <a:srgbClr val="D6E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8-31"/>
          <p:cNvSpPr>
            <a:spLocks noGrp="1"/>
          </p:cNvSpPr>
          <p:nvPr/>
        </p:nvSpPr>
        <p:spPr>
          <a:xfrm>
            <a:off x="9257407" y="4163318"/>
            <a:ext cx="661541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 i="0">
                <a:solidFill>
                  <a:srgbClr val="70E2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现场维修</a:t>
            </a:r>
            <a:endParaRPr sz="1150" b="1" i="0">
              <a:solidFill>
                <a:srgbClr val="70E2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ditable text 8-32"/>
          <p:cNvSpPr>
            <a:spLocks noGrp="1"/>
          </p:cNvSpPr>
          <p:nvPr/>
        </p:nvSpPr>
        <p:spPr>
          <a:xfrm>
            <a:off x="9257407" y="4393257"/>
            <a:ext cx="1041202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 i="0">
                <a:solidFill>
                  <a:srgbClr val="D6E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故障定位和维修效率下降</a:t>
            </a:r>
            <a:endParaRPr sz="690" b="0" i="0">
              <a:solidFill>
                <a:srgbClr val="D6E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ditable text 8-33"/>
          <p:cNvSpPr>
            <a:spLocks noGrp="1"/>
          </p:cNvSpPr>
          <p:nvPr/>
        </p:nvSpPr>
        <p:spPr>
          <a:xfrm>
            <a:off x="955328" y="6562725"/>
            <a:ext cx="121205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停车场设备、网络与计费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9-1"/>
          <p:cNvSpPr>
            <a:spLocks noGrp="1"/>
          </p:cNvSpPr>
          <p:nvPr/>
        </p:nvSpPr>
        <p:spPr>
          <a:xfrm>
            <a:off x="1034355" y="639217"/>
            <a:ext cx="174783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 &amp; REMOTE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9-2"/>
          <p:cNvSpPr>
            <a:spLocks noGrp="1"/>
          </p:cNvSpPr>
          <p:nvPr/>
        </p:nvSpPr>
        <p:spPr>
          <a:xfrm>
            <a:off x="746373" y="852488"/>
            <a:ext cx="2973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61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停车场网络与远程管理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9-3"/>
          <p:cNvSpPr>
            <a:spLocks noGrp="1"/>
          </p:cNvSpPr>
          <p:nvPr/>
        </p:nvSpPr>
        <p:spPr>
          <a:xfrm>
            <a:off x="746373" y="1317278"/>
            <a:ext cx="340474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无人值守停车场需要“主备网络＋离线补传＋远程处置”。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9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9-5"/>
          <p:cNvSpPr>
            <a:spLocks noGrp="1"/>
          </p:cNvSpPr>
          <p:nvPr/>
        </p:nvSpPr>
        <p:spPr>
          <a:xfrm>
            <a:off x="3332708" y="2187476"/>
            <a:ext cx="73461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08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08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城市运营平台</a:t>
            </a:r>
            <a:endParaRPr sz="865" b="1" i="0">
              <a:solidFill>
                <a:srgbClr val="08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9-6"/>
          <p:cNvSpPr>
            <a:spLocks noGrp="1"/>
          </p:cNvSpPr>
          <p:nvPr/>
        </p:nvSpPr>
        <p:spPr>
          <a:xfrm>
            <a:off x="1955453" y="3254722"/>
            <a:ext cx="5152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有线宽带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9-7"/>
          <p:cNvSpPr>
            <a:spLocks noGrp="1"/>
          </p:cNvSpPr>
          <p:nvPr/>
        </p:nvSpPr>
        <p:spPr>
          <a:xfrm>
            <a:off x="1809006" y="3434804"/>
            <a:ext cx="80813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0" i="0">
                <a:solidFill>
                  <a:srgbClr val="BFD6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0" i="0">
                <a:solidFill>
                  <a:srgbClr val="BFD6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主用网络 · 稳定承载</a:t>
            </a:r>
            <a:endParaRPr sz="655" b="0" i="0">
              <a:solidFill>
                <a:srgbClr val="BFD6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9-8"/>
          <p:cNvSpPr>
            <a:spLocks noGrp="1"/>
          </p:cNvSpPr>
          <p:nvPr/>
        </p:nvSpPr>
        <p:spPr>
          <a:xfrm>
            <a:off x="4938861" y="3254722"/>
            <a:ext cx="49678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4G / 5G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9-9"/>
          <p:cNvSpPr>
            <a:spLocks noGrp="1"/>
          </p:cNvSpPr>
          <p:nvPr/>
        </p:nvSpPr>
        <p:spPr>
          <a:xfrm>
            <a:off x="4783187" y="3434804"/>
            <a:ext cx="80813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0" i="0">
                <a:solidFill>
                  <a:srgbClr val="BFD6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0" i="0">
                <a:solidFill>
                  <a:srgbClr val="BFD6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备用网络 · 自动切换</a:t>
            </a:r>
            <a:endParaRPr sz="655" b="0" i="0">
              <a:solidFill>
                <a:srgbClr val="BFD6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9-10"/>
          <p:cNvSpPr>
            <a:spLocks noGrp="1"/>
          </p:cNvSpPr>
          <p:nvPr/>
        </p:nvSpPr>
        <p:spPr>
          <a:xfrm>
            <a:off x="3369320" y="4280297"/>
            <a:ext cx="661541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停车场出入口</a:t>
            </a:r>
            <a:endParaRPr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9-11"/>
          <p:cNvSpPr>
            <a:spLocks noGrp="1"/>
          </p:cNvSpPr>
          <p:nvPr/>
        </p:nvSpPr>
        <p:spPr>
          <a:xfrm>
            <a:off x="3271838" y="4413647"/>
            <a:ext cx="85650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</a:t>
            </a:r>
            <a:r>
              <a:rPr lang="zh-CN" sz="7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lang="zh-CN" sz="7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9-12"/>
          <p:cNvSpPr>
            <a:spLocks noGrp="1"/>
          </p:cNvSpPr>
          <p:nvPr/>
        </p:nvSpPr>
        <p:spPr>
          <a:xfrm>
            <a:off x="7107138" y="2002780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9-13"/>
          <p:cNvSpPr>
            <a:spLocks noGrp="1"/>
          </p:cNvSpPr>
          <p:nvPr/>
        </p:nvSpPr>
        <p:spPr>
          <a:xfrm>
            <a:off x="7561362" y="1935063"/>
            <a:ext cx="73461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网络自动切换</a:t>
            </a:r>
            <a:endParaRPr sz="86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9-14"/>
          <p:cNvSpPr>
            <a:spLocks noGrp="1"/>
          </p:cNvSpPr>
          <p:nvPr/>
        </p:nvSpPr>
        <p:spPr>
          <a:xfrm>
            <a:off x="7561362" y="2110829"/>
            <a:ext cx="18270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主网络故障后自动启用4G或5G备用链路。</a:t>
            </a:r>
            <a:endParaRPr sz="74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9-15"/>
          <p:cNvSpPr>
            <a:spLocks noGrp="1"/>
          </p:cNvSpPr>
          <p:nvPr/>
        </p:nvSpPr>
        <p:spPr>
          <a:xfrm>
            <a:off x="7107138" y="2808089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9-16"/>
          <p:cNvSpPr>
            <a:spLocks noGrp="1"/>
          </p:cNvSpPr>
          <p:nvPr/>
        </p:nvSpPr>
        <p:spPr>
          <a:xfrm>
            <a:off x="7561362" y="2740372"/>
            <a:ext cx="73461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离线订单补传</a:t>
            </a:r>
            <a:endParaRPr sz="86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9-17"/>
          <p:cNvSpPr>
            <a:spLocks noGrp="1"/>
          </p:cNvSpPr>
          <p:nvPr/>
        </p:nvSpPr>
        <p:spPr>
          <a:xfrm>
            <a:off x="7561362" y="2916138"/>
            <a:ext cx="204653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网络恢复后自动补传订单，降低订单丢失风险。</a:t>
            </a:r>
            <a:endParaRPr sz="74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9-18"/>
          <p:cNvSpPr>
            <a:spLocks noGrp="1"/>
          </p:cNvSpPr>
          <p:nvPr/>
        </p:nvSpPr>
        <p:spPr>
          <a:xfrm>
            <a:off x="7107138" y="3613398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9-19"/>
          <p:cNvSpPr>
            <a:spLocks noGrp="1"/>
          </p:cNvSpPr>
          <p:nvPr/>
        </p:nvSpPr>
        <p:spPr>
          <a:xfrm>
            <a:off x="7561362" y="3545681"/>
            <a:ext cx="5152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视频监控</a:t>
            </a:r>
            <a:endParaRPr sz="86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9-20"/>
          <p:cNvSpPr>
            <a:spLocks noGrp="1"/>
          </p:cNvSpPr>
          <p:nvPr/>
        </p:nvSpPr>
        <p:spPr>
          <a:xfrm>
            <a:off x="7561362" y="3721447"/>
            <a:ext cx="204653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远程核实车牌识别错误、道闸故障和收费争议。</a:t>
            </a:r>
            <a:endParaRPr sz="74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9-21"/>
          <p:cNvSpPr>
            <a:spLocks noGrp="1"/>
          </p:cNvSpPr>
          <p:nvPr/>
        </p:nvSpPr>
        <p:spPr>
          <a:xfrm>
            <a:off x="7107138" y="4418707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</a:t>
            </a:r>
            <a:endParaRPr sz="1585" b="1" i="0">
              <a:solidFill>
                <a:srgbClr val="6B4D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9-22"/>
          <p:cNvSpPr>
            <a:spLocks noGrp="1"/>
          </p:cNvSpPr>
          <p:nvPr/>
        </p:nvSpPr>
        <p:spPr>
          <a:xfrm>
            <a:off x="7561362" y="4350990"/>
            <a:ext cx="5152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远程对讲</a:t>
            </a:r>
            <a:endParaRPr sz="865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9-23"/>
          <p:cNvSpPr>
            <a:spLocks noGrp="1"/>
          </p:cNvSpPr>
          <p:nvPr/>
        </p:nvSpPr>
        <p:spPr>
          <a:xfrm>
            <a:off x="7561362" y="4526756"/>
            <a:ext cx="1952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运营中心可直接与现场车主沟通并处理异常。</a:t>
            </a:r>
            <a:endParaRPr sz="74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9-24"/>
          <p:cNvSpPr>
            <a:spLocks noGrp="1"/>
          </p:cNvSpPr>
          <p:nvPr/>
        </p:nvSpPr>
        <p:spPr>
          <a:xfrm>
            <a:off x="955328" y="6562725"/>
            <a:ext cx="121205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停车场设备、网络与计费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0-1"/>
          <p:cNvSpPr>
            <a:spLocks noGrp="1"/>
          </p:cNvSpPr>
          <p:nvPr/>
        </p:nvSpPr>
        <p:spPr>
          <a:xfrm>
            <a:off x="1034355" y="639217"/>
            <a:ext cx="1404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UNIFIED BILLING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0-2"/>
          <p:cNvSpPr>
            <a:spLocks noGrp="1"/>
          </p:cNvSpPr>
          <p:nvPr/>
        </p:nvSpPr>
        <p:spPr>
          <a:xfrm>
            <a:off x="746373" y="852488"/>
            <a:ext cx="21044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停车场统一计费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0-3"/>
          <p:cNvSpPr>
            <a:spLocks noGrp="1"/>
          </p:cNvSpPr>
          <p:nvPr/>
        </p:nvSpPr>
        <p:spPr>
          <a:xfrm>
            <a:off x="746373" y="1317278"/>
            <a:ext cx="391671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计费规则由运营平台统一管理，不固化在停车场设备或厂家平台中。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0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0-5"/>
          <p:cNvSpPr>
            <a:spLocks noGrp="1"/>
          </p:cNvSpPr>
          <p:nvPr/>
        </p:nvSpPr>
        <p:spPr>
          <a:xfrm>
            <a:off x="3267075" y="3412034"/>
            <a:ext cx="5152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统一计费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0-6"/>
          <p:cNvSpPr>
            <a:spLocks noGrp="1"/>
          </p:cNvSpPr>
          <p:nvPr/>
        </p:nvSpPr>
        <p:spPr>
          <a:xfrm>
            <a:off x="3267075" y="3554909"/>
            <a:ext cx="51524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规则中心</a:t>
            </a:r>
            <a:endParaRPr sz="86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0-7"/>
          <p:cNvSpPr>
            <a:spLocks noGrp="1"/>
          </p:cNvSpPr>
          <p:nvPr/>
        </p:nvSpPr>
        <p:spPr>
          <a:xfrm>
            <a:off x="1097161" y="2151757"/>
            <a:ext cx="41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临时停车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0-8"/>
          <p:cNvSpPr>
            <a:spLocks noGrp="1"/>
          </p:cNvSpPr>
          <p:nvPr/>
        </p:nvSpPr>
        <p:spPr>
          <a:xfrm>
            <a:off x="2905720" y="2057400"/>
            <a:ext cx="41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包月停车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0-9"/>
          <p:cNvSpPr>
            <a:spLocks noGrp="1"/>
          </p:cNvSpPr>
          <p:nvPr/>
        </p:nvSpPr>
        <p:spPr>
          <a:xfrm>
            <a:off x="5539680" y="2151757"/>
            <a:ext cx="41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共享停车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0-10"/>
          <p:cNvSpPr>
            <a:spLocks noGrp="1"/>
          </p:cNvSpPr>
          <p:nvPr/>
        </p:nvSpPr>
        <p:spPr>
          <a:xfrm>
            <a:off x="5704136" y="3284041"/>
            <a:ext cx="41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商户优惠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0-11"/>
          <p:cNvSpPr>
            <a:spLocks noGrp="1"/>
          </p:cNvSpPr>
          <p:nvPr/>
        </p:nvSpPr>
        <p:spPr>
          <a:xfrm>
            <a:off x="5539680" y="4435078"/>
            <a:ext cx="41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充电优惠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0-12"/>
          <p:cNvSpPr>
            <a:spLocks noGrp="1"/>
          </p:cNvSpPr>
          <p:nvPr/>
        </p:nvSpPr>
        <p:spPr>
          <a:xfrm>
            <a:off x="2796183" y="4529435"/>
            <a:ext cx="49678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超时占用费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0-13"/>
          <p:cNvSpPr>
            <a:spLocks noGrp="1"/>
          </p:cNvSpPr>
          <p:nvPr/>
        </p:nvSpPr>
        <p:spPr>
          <a:xfrm>
            <a:off x="1042392" y="4435078"/>
            <a:ext cx="58087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道路欠费补缴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0-14"/>
          <p:cNvSpPr>
            <a:spLocks noGrp="1"/>
          </p:cNvSpPr>
          <p:nvPr/>
        </p:nvSpPr>
        <p:spPr>
          <a:xfrm>
            <a:off x="877937" y="3284041"/>
            <a:ext cx="58087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0" b="1" i="0">
                <a:solidFill>
                  <a:srgbClr val="3151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特殊车辆减免</a:t>
            </a:r>
            <a:endParaRPr sz="660" b="1" i="0">
              <a:solidFill>
                <a:srgbClr val="3151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0-15"/>
          <p:cNvSpPr>
            <a:spLocks noGrp="1"/>
          </p:cNvSpPr>
          <p:nvPr/>
        </p:nvSpPr>
        <p:spPr>
          <a:xfrm>
            <a:off x="6860381" y="2106811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0-16"/>
          <p:cNvSpPr>
            <a:spLocks noGrp="1"/>
          </p:cNvSpPr>
          <p:nvPr/>
        </p:nvSpPr>
        <p:spPr>
          <a:xfrm>
            <a:off x="6759922" y="2632918"/>
            <a:ext cx="101232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平台统一管理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0-17"/>
          <p:cNvSpPr>
            <a:spLocks noGrp="1"/>
          </p:cNvSpPr>
          <p:nvPr/>
        </p:nvSpPr>
        <p:spPr>
          <a:xfrm>
            <a:off x="6759922" y="2927300"/>
            <a:ext cx="3284637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收费规则、优惠规则、订单和支付结果在同一平台配置与追踪。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0-18"/>
          <p:cNvSpPr>
            <a:spLocks noGrp="1"/>
          </p:cNvSpPr>
          <p:nvPr/>
        </p:nvSpPr>
        <p:spPr>
          <a:xfrm>
            <a:off x="6686252" y="3467249"/>
            <a:ext cx="22148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05" b="1" i="0">
                <a:solidFill>
                  <a:srgbClr val="A73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5" b="1" i="0">
                <a:solidFill>
                  <a:srgbClr val="A738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为什么不能固化在设备中？</a:t>
            </a:r>
            <a:endParaRPr sz="1405" b="1" i="0">
              <a:solidFill>
                <a:srgbClr val="A738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0-19"/>
          <p:cNvSpPr>
            <a:spLocks noGrp="1"/>
          </p:cNvSpPr>
          <p:nvPr/>
        </p:nvSpPr>
        <p:spPr>
          <a:xfrm>
            <a:off x="6686252" y="3821757"/>
            <a:ext cx="46020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0" i="0">
                <a:solidFill>
                  <a:srgbClr val="765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0" i="0">
                <a:solidFill>
                  <a:srgbClr val="765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停车收费形式会持续变化。如果规则掌握在不同厂家手中， 每次调整都需要单独开发，增加费用并影响</a:t>
            </a:r>
            <a:endParaRPr sz="785" b="0" i="0">
              <a:solidFill>
                <a:srgbClr val="765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0-20"/>
          <p:cNvSpPr>
            <a:spLocks noGrp="1"/>
          </p:cNvSpPr>
          <p:nvPr/>
        </p:nvSpPr>
        <p:spPr>
          <a:xfrm>
            <a:off x="6686252" y="3976688"/>
            <a:ext cx="57581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0" i="0">
                <a:solidFill>
                  <a:srgbClr val="765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0" i="0">
                <a:solidFill>
                  <a:srgbClr val="765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运营效率。</a:t>
            </a:r>
            <a:endParaRPr sz="785" b="0" i="0">
              <a:solidFill>
                <a:srgbClr val="765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0-21"/>
          <p:cNvSpPr>
            <a:spLocks noGrp="1"/>
          </p:cNvSpPr>
          <p:nvPr/>
        </p:nvSpPr>
        <p:spPr>
          <a:xfrm>
            <a:off x="6674197" y="4573637"/>
            <a:ext cx="573435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统一通过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0-22"/>
          <p:cNvSpPr>
            <a:spLocks noGrp="1"/>
          </p:cNvSpPr>
          <p:nvPr/>
        </p:nvSpPr>
        <p:spPr>
          <a:xfrm>
            <a:off x="7171432" y="4573637"/>
            <a:ext cx="573435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平台计费</a:t>
            </a:r>
            <a:endParaRPr sz="980" b="1" i="0">
              <a:solidFill>
                <a:srgbClr val="70E7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0-23"/>
          <p:cNvSpPr>
            <a:spLocks noGrp="1"/>
          </p:cNvSpPr>
          <p:nvPr/>
        </p:nvSpPr>
        <p:spPr>
          <a:xfrm>
            <a:off x="7668667" y="4573637"/>
            <a:ext cx="2810917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，是停车场、充电和道路停车一体化运营的基础。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0-24"/>
          <p:cNvSpPr>
            <a:spLocks noGrp="1"/>
          </p:cNvSpPr>
          <p:nvPr/>
        </p:nvSpPr>
        <p:spPr>
          <a:xfrm>
            <a:off x="955328" y="6562725"/>
            <a:ext cx="1212056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停车场设备、网络与计费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1-1"/>
          <p:cNvSpPr>
            <a:spLocks noGrp="1"/>
          </p:cNvSpPr>
          <p:nvPr/>
        </p:nvSpPr>
        <p:spPr>
          <a:xfrm>
            <a:off x="1034355" y="639217"/>
            <a:ext cx="128647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ROAD PARKING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1-2"/>
          <p:cNvSpPr>
            <a:spLocks noGrp="1"/>
          </p:cNvSpPr>
          <p:nvPr/>
        </p:nvSpPr>
        <p:spPr>
          <a:xfrm>
            <a:off x="746373" y="852488"/>
            <a:ext cx="2973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61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道路停车检测方式选择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1-3"/>
          <p:cNvSpPr>
            <a:spLocks noGrp="1"/>
          </p:cNvSpPr>
          <p:nvPr/>
        </p:nvSpPr>
        <p:spPr>
          <a:xfrm>
            <a:off x="746373" y="1317278"/>
            <a:ext cx="378871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不同路段的周转率、人工成本和建设条件不同，不能“一刀切”。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1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1-5"/>
          <p:cNvSpPr>
            <a:spLocks noGrp="1"/>
          </p:cNvSpPr>
          <p:nvPr/>
        </p:nvSpPr>
        <p:spPr>
          <a:xfrm>
            <a:off x="1028254" y="2022277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1-6"/>
          <p:cNvSpPr>
            <a:spLocks noGrp="1"/>
          </p:cNvSpPr>
          <p:nvPr/>
        </p:nvSpPr>
        <p:spPr>
          <a:xfrm>
            <a:off x="1467148" y="2048619"/>
            <a:ext cx="88523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地磁＋PDA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1-7"/>
          <p:cNvSpPr>
            <a:spLocks noGrp="1"/>
          </p:cNvSpPr>
          <p:nvPr/>
        </p:nvSpPr>
        <p:spPr>
          <a:xfrm>
            <a:off x="1102965" y="2549128"/>
            <a:ext cx="99298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建设成本相对较低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1-8"/>
          <p:cNvSpPr>
            <a:spLocks noGrp="1"/>
          </p:cNvSpPr>
          <p:nvPr/>
        </p:nvSpPr>
        <p:spPr>
          <a:xfrm>
            <a:off x="1102965" y="2734717"/>
            <a:ext cx="763786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施工相对简单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1-9"/>
          <p:cNvSpPr>
            <a:spLocks noGrp="1"/>
          </p:cNvSpPr>
          <p:nvPr/>
        </p:nvSpPr>
        <p:spPr>
          <a:xfrm>
            <a:off x="1102965" y="2920305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需要收费员现场确认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1-10"/>
          <p:cNvSpPr>
            <a:spLocks noGrp="1"/>
          </p:cNvSpPr>
          <p:nvPr/>
        </p:nvSpPr>
        <p:spPr>
          <a:xfrm>
            <a:off x="1102965" y="3105894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依赖人员管理和执行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1-11"/>
          <p:cNvSpPr>
            <a:spLocks noGrp="1"/>
          </p:cNvSpPr>
          <p:nvPr/>
        </p:nvSpPr>
        <p:spPr>
          <a:xfrm>
            <a:off x="985689" y="3501926"/>
            <a:ext cx="407789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高周转率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1-12"/>
          <p:cNvSpPr>
            <a:spLocks noGrp="1"/>
          </p:cNvSpPr>
          <p:nvPr/>
        </p:nvSpPr>
        <p:spPr>
          <a:xfrm>
            <a:off x="1501527" y="3501926"/>
            <a:ext cx="49053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收费潜力大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1-13"/>
          <p:cNvSpPr>
            <a:spLocks noGrp="1"/>
          </p:cNvSpPr>
          <p:nvPr/>
        </p:nvSpPr>
        <p:spPr>
          <a:xfrm>
            <a:off x="4648795" y="2022277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1-14"/>
          <p:cNvSpPr>
            <a:spLocks noGrp="1"/>
          </p:cNvSpPr>
          <p:nvPr/>
        </p:nvSpPr>
        <p:spPr>
          <a:xfrm>
            <a:off x="5087689" y="2048619"/>
            <a:ext cx="117901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高位 / 低位视频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1-15"/>
          <p:cNvSpPr>
            <a:spLocks noGrp="1"/>
          </p:cNvSpPr>
          <p:nvPr/>
        </p:nvSpPr>
        <p:spPr>
          <a:xfrm>
            <a:off x="4723507" y="2549128"/>
            <a:ext cx="763786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建设成本较高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1-16"/>
          <p:cNvSpPr>
            <a:spLocks noGrp="1"/>
          </p:cNvSpPr>
          <p:nvPr/>
        </p:nvSpPr>
        <p:spPr>
          <a:xfrm>
            <a:off x="4723507" y="2734717"/>
            <a:ext cx="1336774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供电、施工、网络要求高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1-17"/>
          <p:cNvSpPr>
            <a:spLocks noGrp="1"/>
          </p:cNvSpPr>
          <p:nvPr/>
        </p:nvSpPr>
        <p:spPr>
          <a:xfrm>
            <a:off x="4723507" y="2920305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可减少收费人员投入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1-18"/>
          <p:cNvSpPr>
            <a:spLocks noGrp="1"/>
          </p:cNvSpPr>
          <p:nvPr/>
        </p:nvSpPr>
        <p:spPr>
          <a:xfrm>
            <a:off x="4723507" y="3105894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自动化程度相对较高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1-19"/>
          <p:cNvSpPr>
            <a:spLocks noGrp="1"/>
          </p:cNvSpPr>
          <p:nvPr/>
        </p:nvSpPr>
        <p:spPr>
          <a:xfrm>
            <a:off x="4606230" y="3501926"/>
            <a:ext cx="407789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低周转率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1-20"/>
          <p:cNvSpPr>
            <a:spLocks noGrp="1"/>
          </p:cNvSpPr>
          <p:nvPr/>
        </p:nvSpPr>
        <p:spPr>
          <a:xfrm>
            <a:off x="5122069" y="3501926"/>
            <a:ext cx="49053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人工成本高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1-21"/>
          <p:cNvSpPr>
            <a:spLocks noGrp="1"/>
          </p:cNvSpPr>
          <p:nvPr/>
        </p:nvSpPr>
        <p:spPr>
          <a:xfrm>
            <a:off x="8269337" y="2022277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巡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1-22"/>
          <p:cNvSpPr>
            <a:spLocks noGrp="1"/>
          </p:cNvSpPr>
          <p:nvPr/>
        </p:nvSpPr>
        <p:spPr>
          <a:xfrm>
            <a:off x="8708231" y="2048619"/>
            <a:ext cx="856357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视频巡检车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1-23"/>
          <p:cNvSpPr>
            <a:spLocks noGrp="1"/>
          </p:cNvSpPr>
          <p:nvPr/>
        </p:nvSpPr>
        <p:spPr>
          <a:xfrm>
            <a:off x="8344049" y="2549128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单次巡检覆盖面积大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1-24"/>
          <p:cNvSpPr>
            <a:spLocks noGrp="1"/>
          </p:cNvSpPr>
          <p:nvPr/>
        </p:nvSpPr>
        <p:spPr>
          <a:xfrm>
            <a:off x="8344049" y="2734717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需要车辆和驾驶人员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11-25"/>
          <p:cNvSpPr>
            <a:spLocks noGrp="1"/>
          </p:cNvSpPr>
          <p:nvPr/>
        </p:nvSpPr>
        <p:spPr>
          <a:xfrm>
            <a:off x="8344049" y="2920305"/>
            <a:ext cx="1107579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可快速覆盖分散泊位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11-26"/>
          <p:cNvSpPr>
            <a:spLocks noGrp="1"/>
          </p:cNvSpPr>
          <p:nvPr/>
        </p:nvSpPr>
        <p:spPr>
          <a:xfrm>
            <a:off x="8344049" y="3105894"/>
            <a:ext cx="992981" cy="2237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需要规划巡检频次</a:t>
            </a:r>
            <a:endParaRPr sz="90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11-27"/>
          <p:cNvSpPr>
            <a:spLocks noGrp="1"/>
          </p:cNvSpPr>
          <p:nvPr/>
        </p:nvSpPr>
        <p:spPr>
          <a:xfrm>
            <a:off x="8226772" y="3501926"/>
            <a:ext cx="407789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泊位分散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11-28"/>
          <p:cNvSpPr>
            <a:spLocks noGrp="1"/>
          </p:cNvSpPr>
          <p:nvPr/>
        </p:nvSpPr>
        <p:spPr>
          <a:xfrm>
            <a:off x="8742611" y="3501926"/>
            <a:ext cx="407789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55" b="1" i="0">
                <a:solidFill>
                  <a:srgbClr val="5470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机动巡检</a:t>
            </a:r>
            <a:endParaRPr sz="655" b="1" i="0">
              <a:solidFill>
                <a:srgbClr val="5470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11-29"/>
          <p:cNvSpPr>
            <a:spLocks noGrp="1"/>
          </p:cNvSpPr>
          <p:nvPr/>
        </p:nvSpPr>
        <p:spPr>
          <a:xfrm>
            <a:off x="944910" y="4213920"/>
            <a:ext cx="649188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选择原则：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11-30"/>
          <p:cNvSpPr>
            <a:spLocks noGrp="1"/>
          </p:cNvSpPr>
          <p:nvPr/>
        </p:nvSpPr>
        <p:spPr>
          <a:xfrm>
            <a:off x="1632496" y="4213920"/>
            <a:ext cx="3743027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先分析路段经营特征，再决定设备方案，不要按全市统一模板简单复制。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11-31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道路停车建设与运营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2-1"/>
          <p:cNvSpPr>
            <a:spLocks noGrp="1"/>
          </p:cNvSpPr>
          <p:nvPr/>
        </p:nvSpPr>
        <p:spPr>
          <a:xfrm>
            <a:off x="1034355" y="639217"/>
            <a:ext cx="192018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EQUIPMENT SELECTION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2-2"/>
          <p:cNvSpPr>
            <a:spLocks noGrp="1"/>
          </p:cNvSpPr>
          <p:nvPr/>
        </p:nvSpPr>
        <p:spPr>
          <a:xfrm>
            <a:off x="746373" y="852488"/>
            <a:ext cx="2973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61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道路停车设备选型原则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2-3"/>
          <p:cNvSpPr>
            <a:spLocks noGrp="1"/>
          </p:cNvSpPr>
          <p:nvPr/>
        </p:nvSpPr>
        <p:spPr>
          <a:xfrm>
            <a:off x="746373" y="1317278"/>
            <a:ext cx="378871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采购价格只是显性成本，运营收益与长期成本才是最终判断依据。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2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2-5"/>
          <p:cNvSpPr>
            <a:spLocks noGrp="1"/>
          </p:cNvSpPr>
          <p:nvPr/>
        </p:nvSpPr>
        <p:spPr>
          <a:xfrm>
            <a:off x="1105644" y="2424113"/>
            <a:ext cx="15641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↻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2-6"/>
          <p:cNvSpPr>
            <a:spLocks noGrp="1"/>
          </p:cNvSpPr>
          <p:nvPr/>
        </p:nvSpPr>
        <p:spPr>
          <a:xfrm>
            <a:off x="1240780" y="2424113"/>
            <a:ext cx="575816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泊位周转率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2-7"/>
          <p:cNvSpPr>
            <a:spLocks noGrp="1"/>
          </p:cNvSpPr>
          <p:nvPr/>
        </p:nvSpPr>
        <p:spPr>
          <a:xfrm>
            <a:off x="2044452" y="2424113"/>
            <a:ext cx="21342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⌚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2-8"/>
          <p:cNvSpPr>
            <a:spLocks noGrp="1"/>
          </p:cNvSpPr>
          <p:nvPr/>
        </p:nvSpPr>
        <p:spPr>
          <a:xfrm>
            <a:off x="2236589" y="2424113"/>
            <a:ext cx="67582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平均停车时长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2-9"/>
          <p:cNvSpPr>
            <a:spLocks noGrp="1"/>
          </p:cNvSpPr>
          <p:nvPr/>
        </p:nvSpPr>
        <p:spPr>
          <a:xfrm>
            <a:off x="3140273" y="2424113"/>
            <a:ext cx="13796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2-10"/>
          <p:cNvSpPr>
            <a:spLocks noGrp="1"/>
          </p:cNvSpPr>
          <p:nvPr/>
        </p:nvSpPr>
        <p:spPr>
          <a:xfrm>
            <a:off x="3256955" y="2424113"/>
            <a:ext cx="67582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停车收费标准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2-11"/>
          <p:cNvSpPr>
            <a:spLocks noGrp="1"/>
          </p:cNvSpPr>
          <p:nvPr/>
        </p:nvSpPr>
        <p:spPr>
          <a:xfrm>
            <a:off x="4160639" y="2428875"/>
            <a:ext cx="15076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2-12"/>
          <p:cNvSpPr>
            <a:spLocks noGrp="1"/>
          </p:cNvSpPr>
          <p:nvPr/>
        </p:nvSpPr>
        <p:spPr>
          <a:xfrm>
            <a:off x="4290120" y="2424113"/>
            <a:ext cx="775692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车主自主缴费率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2-13"/>
          <p:cNvSpPr>
            <a:spLocks noGrp="1"/>
          </p:cNvSpPr>
          <p:nvPr/>
        </p:nvSpPr>
        <p:spPr>
          <a:xfrm>
            <a:off x="5293668" y="2428875"/>
            <a:ext cx="17621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▦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2-14"/>
          <p:cNvSpPr>
            <a:spLocks noGrp="1"/>
          </p:cNvSpPr>
          <p:nvPr/>
        </p:nvSpPr>
        <p:spPr>
          <a:xfrm>
            <a:off x="5448598" y="2424113"/>
            <a:ext cx="67582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路段泊位密度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2-15"/>
          <p:cNvSpPr>
            <a:spLocks noGrp="1"/>
          </p:cNvSpPr>
          <p:nvPr/>
        </p:nvSpPr>
        <p:spPr>
          <a:xfrm>
            <a:off x="1105644" y="2822228"/>
            <a:ext cx="13900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⌁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2-16"/>
          <p:cNvSpPr>
            <a:spLocks noGrp="1"/>
          </p:cNvSpPr>
          <p:nvPr/>
        </p:nvSpPr>
        <p:spPr>
          <a:xfrm>
            <a:off x="1223367" y="2822228"/>
            <a:ext cx="775692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供电和网络条件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2-17"/>
          <p:cNvSpPr>
            <a:spLocks noGrp="1"/>
          </p:cNvSpPr>
          <p:nvPr/>
        </p:nvSpPr>
        <p:spPr>
          <a:xfrm>
            <a:off x="2226915" y="2822228"/>
            <a:ext cx="154037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⚒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2-18"/>
          <p:cNvSpPr>
            <a:spLocks noGrp="1"/>
          </p:cNvSpPr>
          <p:nvPr/>
        </p:nvSpPr>
        <p:spPr>
          <a:xfrm>
            <a:off x="2359670" y="2822228"/>
            <a:ext cx="475952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施工难度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2-19"/>
          <p:cNvSpPr>
            <a:spLocks noGrp="1"/>
          </p:cNvSpPr>
          <p:nvPr/>
        </p:nvSpPr>
        <p:spPr>
          <a:xfrm>
            <a:off x="3063478" y="2822228"/>
            <a:ext cx="17621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2-20"/>
          <p:cNvSpPr>
            <a:spLocks noGrp="1"/>
          </p:cNvSpPr>
          <p:nvPr/>
        </p:nvSpPr>
        <p:spPr>
          <a:xfrm>
            <a:off x="3218408" y="2822228"/>
            <a:ext cx="67582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收费人员工资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2-21"/>
          <p:cNvSpPr>
            <a:spLocks noGrp="1"/>
          </p:cNvSpPr>
          <p:nvPr/>
        </p:nvSpPr>
        <p:spPr>
          <a:xfrm>
            <a:off x="4122093" y="2822228"/>
            <a:ext cx="17621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</a:t>
            </a:r>
            <a:endParaRPr sz="7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2-22"/>
          <p:cNvSpPr>
            <a:spLocks noGrp="1"/>
          </p:cNvSpPr>
          <p:nvPr/>
        </p:nvSpPr>
        <p:spPr>
          <a:xfrm>
            <a:off x="4277023" y="2822228"/>
            <a:ext cx="67582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1" i="0">
                <a:solidFill>
                  <a:srgbClr val="2C49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设备维护成本</a:t>
            </a:r>
            <a:endParaRPr sz="785" b="1" i="0">
              <a:solidFill>
                <a:srgbClr val="2C49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2-23"/>
          <p:cNvSpPr>
            <a:spLocks noGrp="1"/>
          </p:cNvSpPr>
          <p:nvPr/>
        </p:nvSpPr>
        <p:spPr>
          <a:xfrm>
            <a:off x="7603927" y="2064841"/>
            <a:ext cx="9670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3265" b="1" i="0">
                <a:solidFill>
                  <a:srgbClr val="6F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65" b="1" i="0">
                <a:solidFill>
                  <a:srgbClr val="6F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</a:t>
            </a:r>
            <a:endParaRPr sz="3265" b="1" i="0">
              <a:solidFill>
                <a:srgbClr val="6FE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2-24"/>
          <p:cNvSpPr>
            <a:spLocks noGrp="1"/>
          </p:cNvSpPr>
          <p:nvPr/>
        </p:nvSpPr>
        <p:spPr>
          <a:xfrm>
            <a:off x="7603927" y="2618631"/>
            <a:ext cx="139303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9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9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不同路段选用不同</a:t>
            </a:r>
            <a:r>
              <a:rPr lang="zh-CN" sz="129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129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12-25"/>
          <p:cNvSpPr>
            <a:spLocks noGrp="1"/>
          </p:cNvSpPr>
          <p:nvPr/>
        </p:nvSpPr>
        <p:spPr>
          <a:xfrm>
            <a:off x="7603927" y="2925514"/>
            <a:ext cx="3485555" cy="20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05" b="0" i="0">
                <a:solidFill>
                  <a:srgbClr val="C8DE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 i="0">
                <a:solidFill>
                  <a:srgbClr val="C8DE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价格便宜不代表运营成本低，自动化程度高也不一定带来更高收益。 应用真</a:t>
            </a:r>
            <a:endParaRPr sz="805" b="0" i="0">
              <a:solidFill>
                <a:srgbClr val="C8DE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12-26"/>
          <p:cNvSpPr>
            <a:spLocks noGrp="1"/>
          </p:cNvSpPr>
          <p:nvPr/>
        </p:nvSpPr>
        <p:spPr>
          <a:xfrm>
            <a:off x="7603927" y="3089225"/>
            <a:ext cx="895350" cy="2019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05" b="0" i="0">
                <a:solidFill>
                  <a:srgbClr val="C8DE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 i="0">
                <a:solidFill>
                  <a:srgbClr val="C8DE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实数据验证方案。</a:t>
            </a:r>
            <a:endParaRPr sz="805" b="0" i="0">
              <a:solidFill>
                <a:srgbClr val="C8DE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12-27"/>
          <p:cNvSpPr>
            <a:spLocks noGrp="1"/>
          </p:cNvSpPr>
          <p:nvPr/>
        </p:nvSpPr>
        <p:spPr>
          <a:xfrm>
            <a:off x="1225451" y="3908078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选择典型路段</a:t>
            </a:r>
            <a:endParaRPr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12-28"/>
          <p:cNvSpPr>
            <a:spLocks noGrp="1"/>
          </p:cNvSpPr>
          <p:nvPr/>
        </p:nvSpPr>
        <p:spPr>
          <a:xfrm>
            <a:off x="2578447" y="387474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12-29"/>
          <p:cNvSpPr>
            <a:spLocks noGrp="1"/>
          </p:cNvSpPr>
          <p:nvPr/>
        </p:nvSpPr>
        <p:spPr>
          <a:xfrm>
            <a:off x="3465761" y="3908078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r>
              <a:rPr lang="zh-CN"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差异化管理</a:t>
            </a:r>
            <a:r>
              <a:rPr lang="zh-CN"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12-30"/>
          <p:cNvSpPr>
            <a:spLocks noGrp="1"/>
          </p:cNvSpPr>
          <p:nvPr/>
        </p:nvSpPr>
        <p:spPr>
          <a:xfrm>
            <a:off x="4866382" y="387474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12-31"/>
          <p:cNvSpPr>
            <a:spLocks noGrp="1"/>
          </p:cNvSpPr>
          <p:nvPr/>
        </p:nvSpPr>
        <p:spPr>
          <a:xfrm>
            <a:off x="5706219" y="3908078"/>
            <a:ext cx="836712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分析订单与缴费率</a:t>
            </a:r>
            <a:endParaRPr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ditable text 12-32"/>
          <p:cNvSpPr>
            <a:spLocks noGrp="1"/>
          </p:cNvSpPr>
          <p:nvPr/>
        </p:nvSpPr>
        <p:spPr>
          <a:xfrm>
            <a:off x="7154317" y="387474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ditable text 12-33"/>
          <p:cNvSpPr>
            <a:spLocks noGrp="1"/>
          </p:cNvSpPr>
          <p:nvPr/>
        </p:nvSpPr>
        <p:spPr>
          <a:xfrm>
            <a:off x="8089255" y="3908078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核算运营成本</a:t>
            </a:r>
            <a:endParaRPr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ditable text 12-34"/>
          <p:cNvSpPr>
            <a:spLocks noGrp="1"/>
          </p:cNvSpPr>
          <p:nvPr/>
        </p:nvSpPr>
        <p:spPr>
          <a:xfrm>
            <a:off x="9442252" y="387474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0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ditable text 12-35"/>
          <p:cNvSpPr>
            <a:spLocks noGrp="1"/>
          </p:cNvSpPr>
          <p:nvPr/>
        </p:nvSpPr>
        <p:spPr>
          <a:xfrm>
            <a:off x="10377190" y="3908078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调整管理</a:t>
            </a:r>
            <a:r>
              <a:rPr lang="zh-CN" sz="7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7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ditable text 12-36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道路停车建设与运营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3-1"/>
          <p:cNvSpPr>
            <a:spLocks noGrp="1"/>
          </p:cNvSpPr>
          <p:nvPr/>
        </p:nvSpPr>
        <p:spPr>
          <a:xfrm>
            <a:off x="1034355" y="639217"/>
            <a:ext cx="144646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STAFFING MODEL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3-2"/>
          <p:cNvSpPr>
            <a:spLocks noGrp="1"/>
          </p:cNvSpPr>
          <p:nvPr/>
        </p:nvSpPr>
        <p:spPr>
          <a:xfrm>
            <a:off x="746373" y="852488"/>
            <a:ext cx="297373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561"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道路停车收费人员配置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3-3"/>
          <p:cNvSpPr>
            <a:spLocks noGrp="1"/>
          </p:cNvSpPr>
          <p:nvPr/>
        </p:nvSpPr>
        <p:spPr>
          <a:xfrm>
            <a:off x="746373" y="1317278"/>
            <a:ext cx="276463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人员数量应由路段、时段和经营数据动态决定。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3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3-5"/>
          <p:cNvSpPr>
            <a:spLocks noGrp="1"/>
          </p:cNvSpPr>
          <p:nvPr/>
        </p:nvSpPr>
        <p:spPr>
          <a:xfrm>
            <a:off x="1037034" y="2158008"/>
            <a:ext cx="540841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4800" b="1" i="0">
                <a:solidFill>
                  <a:srgbClr val="69E1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 i="0">
                <a:solidFill>
                  <a:srgbClr val="69E1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</a:t>
            </a:r>
            <a:endParaRPr sz="4800" b="1" i="0">
              <a:solidFill>
                <a:srgbClr val="69E1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3-6"/>
          <p:cNvSpPr>
            <a:spLocks noGrp="1"/>
          </p:cNvSpPr>
          <p:nvPr/>
        </p:nvSpPr>
        <p:spPr>
          <a:xfrm>
            <a:off x="1577876" y="2645569"/>
            <a:ext cx="117351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60" b="0" i="0">
                <a:solidFill>
                  <a:srgbClr val="D8E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0" i="0">
                <a:solidFill>
                  <a:srgbClr val="D8E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一次配置后长期不变</a:t>
            </a:r>
            <a:endParaRPr sz="960" b="0" i="0">
              <a:solidFill>
                <a:srgbClr val="D8E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3-7"/>
          <p:cNvSpPr>
            <a:spLocks noGrp="1"/>
          </p:cNvSpPr>
          <p:nvPr/>
        </p:nvSpPr>
        <p:spPr>
          <a:xfrm>
            <a:off x="1037034" y="3608040"/>
            <a:ext cx="135642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D1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D1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人员过少：漏单、欠费、服务下降</a:t>
            </a:r>
            <a:endParaRPr sz="670" b="0" i="0">
              <a:solidFill>
                <a:srgbClr val="D1E4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3-8"/>
          <p:cNvSpPr>
            <a:spLocks noGrp="1"/>
          </p:cNvSpPr>
          <p:nvPr/>
        </p:nvSpPr>
        <p:spPr>
          <a:xfrm>
            <a:off x="4202757" y="3608040"/>
            <a:ext cx="101500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D1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D1E4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人员过多：人工成本过高</a:t>
            </a:r>
            <a:endParaRPr sz="670" b="0" i="0">
              <a:solidFill>
                <a:srgbClr val="D1E4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3-9"/>
          <p:cNvSpPr>
            <a:spLocks noGrp="1"/>
          </p:cNvSpPr>
          <p:nvPr/>
        </p:nvSpPr>
        <p:spPr>
          <a:xfrm>
            <a:off x="1037034" y="3955554"/>
            <a:ext cx="2774007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85" b="0" i="0">
                <a:solidFill>
                  <a:srgbClr val="C7DB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85" b="0" i="0">
                <a:solidFill>
                  <a:srgbClr val="C7DB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目标是在订单及时确认、服务质量与人工成本之间取得平衡。</a:t>
            </a:r>
            <a:endParaRPr sz="785" b="0" i="0">
              <a:solidFill>
                <a:srgbClr val="C7DB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3-10"/>
          <p:cNvSpPr>
            <a:spLocks noGrp="1"/>
          </p:cNvSpPr>
          <p:nvPr/>
        </p:nvSpPr>
        <p:spPr>
          <a:xfrm>
            <a:off x="5931098" y="1972270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薪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3-11"/>
          <p:cNvSpPr>
            <a:spLocks noGrp="1"/>
          </p:cNvSpPr>
          <p:nvPr/>
        </p:nvSpPr>
        <p:spPr>
          <a:xfrm>
            <a:off x="6354812" y="2043708"/>
            <a:ext cx="73297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收费员工资水平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3-12"/>
          <p:cNvSpPr>
            <a:spLocks noGrp="1"/>
          </p:cNvSpPr>
          <p:nvPr/>
        </p:nvSpPr>
        <p:spPr>
          <a:xfrm>
            <a:off x="8831312" y="1972270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3-13"/>
          <p:cNvSpPr>
            <a:spLocks noGrp="1"/>
          </p:cNvSpPr>
          <p:nvPr/>
        </p:nvSpPr>
        <p:spPr>
          <a:xfrm>
            <a:off x="9255026" y="2043708"/>
            <a:ext cx="73297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每人管理泊位数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3-14"/>
          <p:cNvSpPr>
            <a:spLocks noGrp="1"/>
          </p:cNvSpPr>
          <p:nvPr/>
        </p:nvSpPr>
        <p:spPr>
          <a:xfrm>
            <a:off x="5931098" y="2710458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3-15"/>
          <p:cNvSpPr>
            <a:spLocks noGrp="1"/>
          </p:cNvSpPr>
          <p:nvPr/>
        </p:nvSpPr>
        <p:spPr>
          <a:xfrm>
            <a:off x="6354812" y="2781895"/>
            <a:ext cx="545306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泊位周转率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3-16"/>
          <p:cNvSpPr>
            <a:spLocks noGrp="1"/>
          </p:cNvSpPr>
          <p:nvPr/>
        </p:nvSpPr>
        <p:spPr>
          <a:xfrm>
            <a:off x="8831312" y="2710458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endParaRPr sz="1585" b="1" i="0">
              <a:solidFill>
                <a:srgbClr val="6B4D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3-17"/>
          <p:cNvSpPr>
            <a:spLocks noGrp="1"/>
          </p:cNvSpPr>
          <p:nvPr/>
        </p:nvSpPr>
        <p:spPr>
          <a:xfrm>
            <a:off x="9255026" y="2781895"/>
            <a:ext cx="63921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平均停车时长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3-18"/>
          <p:cNvSpPr>
            <a:spLocks noGrp="1"/>
          </p:cNvSpPr>
          <p:nvPr/>
        </p:nvSpPr>
        <p:spPr>
          <a:xfrm>
            <a:off x="5931098" y="344864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3-19"/>
          <p:cNvSpPr>
            <a:spLocks noGrp="1"/>
          </p:cNvSpPr>
          <p:nvPr/>
        </p:nvSpPr>
        <p:spPr>
          <a:xfrm>
            <a:off x="6354812" y="3520083"/>
            <a:ext cx="73297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高峰和低峰时段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3-20"/>
          <p:cNvSpPr>
            <a:spLocks noGrp="1"/>
          </p:cNvSpPr>
          <p:nvPr/>
        </p:nvSpPr>
        <p:spPr>
          <a:xfrm>
            <a:off x="8831312" y="344864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3-21"/>
          <p:cNvSpPr>
            <a:spLocks noGrp="1"/>
          </p:cNvSpPr>
          <p:nvPr/>
        </p:nvSpPr>
        <p:spPr>
          <a:xfrm>
            <a:off x="9255026" y="3520083"/>
            <a:ext cx="73297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车主自主缴费率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3-22"/>
          <p:cNvSpPr>
            <a:spLocks noGrp="1"/>
          </p:cNvSpPr>
          <p:nvPr/>
        </p:nvSpPr>
        <p:spPr>
          <a:xfrm>
            <a:off x="5931098" y="4186833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D978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</a:t>
            </a:r>
            <a:endParaRPr sz="1585" b="1" i="0">
              <a:solidFill>
                <a:srgbClr val="D978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3-23"/>
          <p:cNvSpPr>
            <a:spLocks noGrp="1"/>
          </p:cNvSpPr>
          <p:nvPr/>
        </p:nvSpPr>
        <p:spPr>
          <a:xfrm>
            <a:off x="6354812" y="4258270"/>
            <a:ext cx="639217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人均实收金额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3-24"/>
          <p:cNvSpPr>
            <a:spLocks noGrp="1"/>
          </p:cNvSpPr>
          <p:nvPr/>
        </p:nvSpPr>
        <p:spPr>
          <a:xfrm>
            <a:off x="8831312" y="4186833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6B4D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</a:t>
            </a:r>
            <a:endParaRPr sz="1585" b="1" i="0">
              <a:solidFill>
                <a:srgbClr val="6B4D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13-25"/>
          <p:cNvSpPr>
            <a:spLocks noGrp="1"/>
          </p:cNvSpPr>
          <p:nvPr/>
        </p:nvSpPr>
        <p:spPr>
          <a:xfrm>
            <a:off x="9255026" y="4258270"/>
            <a:ext cx="73297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路段整体缴费率</a:t>
            </a:r>
            <a:endParaRPr sz="74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13-26"/>
          <p:cNvSpPr>
            <a:spLocks noGrp="1"/>
          </p:cNvSpPr>
          <p:nvPr/>
        </p:nvSpPr>
        <p:spPr>
          <a:xfrm>
            <a:off x="929134" y="5018782"/>
            <a:ext cx="612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动态配置</a:t>
            </a:r>
            <a:endParaRPr sz="105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13-27"/>
          <p:cNvSpPr>
            <a:spLocks noGrp="1"/>
          </p:cNvSpPr>
          <p:nvPr/>
        </p:nvSpPr>
        <p:spPr>
          <a:xfrm>
            <a:off x="1694259" y="5042595"/>
            <a:ext cx="300231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0" i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0" i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按路段、时段和月份定期分析数据，及时调整人员数量与排班方式。</a:t>
            </a:r>
            <a:endParaRPr sz="770" b="0" i="0">
              <a:solidFill>
                <a:srgbClr val="DDEE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13-28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道路停车建设与运营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4-1"/>
          <p:cNvSpPr>
            <a:spLocks noGrp="1"/>
          </p:cNvSpPr>
          <p:nvPr/>
        </p:nvSpPr>
        <p:spPr>
          <a:xfrm>
            <a:off x="1034355" y="639217"/>
            <a:ext cx="1774031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ARREARS REDUCTION</a:t>
            </a:r>
            <a:endParaRPr sz="101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4-2"/>
          <p:cNvSpPr>
            <a:spLocks noGrp="1"/>
          </p:cNvSpPr>
          <p:nvPr/>
        </p:nvSpPr>
        <p:spPr>
          <a:xfrm>
            <a:off x="746373" y="852488"/>
            <a:ext cx="239419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降低道路停车欠费</a:t>
            </a:r>
            <a:endParaRPr sz="235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4-3"/>
          <p:cNvSpPr>
            <a:spLocks noGrp="1"/>
          </p:cNvSpPr>
          <p:nvPr/>
        </p:nvSpPr>
        <p:spPr>
          <a:xfrm>
            <a:off x="746373" y="1317278"/>
            <a:ext cx="3276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0" i="0">
                <a:solidFill>
                  <a:srgbClr val="6675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通过自主缴费、无感支付、套餐和多场景追缴降低欠费。</a:t>
            </a:r>
            <a:endParaRPr sz="1010" b="0" i="0">
              <a:solidFill>
                <a:srgbClr val="6675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4-4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499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4-5"/>
          <p:cNvSpPr>
            <a:spLocks noGrp="1"/>
          </p:cNvSpPr>
          <p:nvPr/>
        </p:nvSpPr>
        <p:spPr>
          <a:xfrm>
            <a:off x="1075432" y="206945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</a:t>
            </a:r>
            <a:endParaRPr sz="158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4-6"/>
          <p:cNvSpPr>
            <a:spLocks noGrp="1"/>
          </p:cNvSpPr>
          <p:nvPr/>
        </p:nvSpPr>
        <p:spPr>
          <a:xfrm>
            <a:off x="1529655" y="2038648"/>
            <a:ext cx="919014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培养自主缴费习惯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4-7"/>
          <p:cNvSpPr>
            <a:spLocks noGrp="1"/>
          </p:cNvSpPr>
          <p:nvPr/>
        </p:nvSpPr>
        <p:spPr>
          <a:xfrm>
            <a:off x="1529655" y="2162473"/>
            <a:ext cx="194845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让缴费入口更清晰、更方便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4-8"/>
          <p:cNvSpPr>
            <a:spLocks noGrp="1"/>
          </p:cNvSpPr>
          <p:nvPr/>
        </p:nvSpPr>
        <p:spPr>
          <a:xfrm>
            <a:off x="1245394" y="2619375"/>
            <a:ext cx="109463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设置清晰的停车缴费标识</a:t>
            </a:r>
            <a:endParaRPr sz="730" b="1" i="0">
              <a:solidFill>
                <a:srgbClr val="415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4-9"/>
          <p:cNvSpPr>
            <a:spLocks noGrp="1"/>
          </p:cNvSpPr>
          <p:nvPr/>
        </p:nvSpPr>
        <p:spPr>
          <a:xfrm>
            <a:off x="1245394" y="2945309"/>
            <a:ext cx="137249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提供小程序、二维码等缴费入口</a:t>
            </a:r>
            <a:endParaRPr sz="730" b="1" i="0">
              <a:solidFill>
                <a:srgbClr val="415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4-10"/>
          <p:cNvSpPr>
            <a:spLocks noGrp="1"/>
          </p:cNvSpPr>
          <p:nvPr/>
        </p:nvSpPr>
        <p:spPr>
          <a:xfrm>
            <a:off x="1245394" y="3271242"/>
            <a:ext cx="109463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推广车牌绑定和无感支付</a:t>
            </a:r>
            <a:endParaRPr sz="730" b="1" i="0">
              <a:solidFill>
                <a:srgbClr val="415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4-11"/>
          <p:cNvSpPr>
            <a:spLocks noGrp="1"/>
          </p:cNvSpPr>
          <p:nvPr/>
        </p:nvSpPr>
        <p:spPr>
          <a:xfrm>
            <a:off x="1245394" y="3597176"/>
            <a:ext cx="127992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通过短信或服务消息提醒缴费</a:t>
            </a:r>
            <a:endParaRPr sz="730" b="1" i="0">
              <a:solidFill>
                <a:srgbClr val="415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4-12"/>
          <p:cNvSpPr>
            <a:spLocks noGrp="1"/>
          </p:cNvSpPr>
          <p:nvPr/>
        </p:nvSpPr>
        <p:spPr>
          <a:xfrm>
            <a:off x="1245394" y="3923109"/>
            <a:ext cx="127992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30" b="1" i="0">
                <a:solidFill>
                  <a:srgbClr val="415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在停车场等场景提供欠费补缴</a:t>
            </a:r>
            <a:endParaRPr sz="730" b="1" i="0">
              <a:solidFill>
                <a:srgbClr val="415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4-13"/>
          <p:cNvSpPr>
            <a:spLocks noGrp="1"/>
          </p:cNvSpPr>
          <p:nvPr/>
        </p:nvSpPr>
        <p:spPr>
          <a:xfrm>
            <a:off x="6538317" y="2069455"/>
            <a:ext cx="27741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85" b="1" i="0">
                <a:solidFill>
                  <a:srgbClr val="0D9F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endParaRPr sz="1585" b="1" i="0">
              <a:solidFill>
                <a:srgbClr val="0D9F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4-14"/>
          <p:cNvSpPr>
            <a:spLocks noGrp="1"/>
          </p:cNvSpPr>
          <p:nvPr/>
        </p:nvSpPr>
        <p:spPr>
          <a:xfrm>
            <a:off x="6992541" y="2038648"/>
            <a:ext cx="813643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70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设计差异化套餐</a:t>
            </a:r>
            <a:endParaRPr sz="770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4-15"/>
          <p:cNvSpPr>
            <a:spLocks noGrp="1"/>
          </p:cNvSpPr>
          <p:nvPr/>
        </p:nvSpPr>
        <p:spPr>
          <a:xfrm>
            <a:off x="6992541" y="2162473"/>
            <a:ext cx="179248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3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将临时收费转为预付产品</a:t>
            </a:r>
            <a:endParaRPr sz="123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4-16"/>
          <p:cNvSpPr>
            <a:spLocks noGrp="1"/>
          </p:cNvSpPr>
          <p:nvPr/>
        </p:nvSpPr>
        <p:spPr>
          <a:xfrm>
            <a:off x="7321600" y="2651373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居民停车套餐</a:t>
            </a:r>
            <a:endParaRPr sz="750" b="1" i="0">
              <a:solidFill>
                <a:srgbClr val="2143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4-17"/>
          <p:cNvSpPr>
            <a:spLocks noGrp="1"/>
          </p:cNvSpPr>
          <p:nvPr/>
        </p:nvSpPr>
        <p:spPr>
          <a:xfrm>
            <a:off x="9743629" y="2651373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商户停车套餐</a:t>
            </a:r>
            <a:endParaRPr sz="750" b="1" i="0">
              <a:solidFill>
                <a:srgbClr val="2143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4-18"/>
          <p:cNvSpPr>
            <a:spLocks noGrp="1"/>
          </p:cNvSpPr>
          <p:nvPr/>
        </p:nvSpPr>
        <p:spPr>
          <a:xfrm>
            <a:off x="7274123" y="3058418"/>
            <a:ext cx="741759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工作日停车套餐</a:t>
            </a:r>
            <a:endParaRPr sz="750" b="1" i="0">
              <a:solidFill>
                <a:srgbClr val="2143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4-19"/>
          <p:cNvSpPr>
            <a:spLocks noGrp="1"/>
          </p:cNvSpPr>
          <p:nvPr/>
        </p:nvSpPr>
        <p:spPr>
          <a:xfrm>
            <a:off x="9743629" y="3058418"/>
            <a:ext cx="646658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2143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夜间停车套餐</a:t>
            </a:r>
            <a:endParaRPr sz="750" b="1" i="0">
              <a:solidFill>
                <a:srgbClr val="2143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4-20"/>
          <p:cNvSpPr>
            <a:spLocks noGrp="1"/>
          </p:cNvSpPr>
          <p:nvPr/>
        </p:nvSpPr>
        <p:spPr>
          <a:xfrm>
            <a:off x="6636395" y="3548360"/>
            <a:ext cx="419993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 i="0">
                <a:solidFill>
                  <a:srgbClr val="A95B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激励：</a:t>
            </a:r>
            <a:endParaRPr sz="900" b="1" i="0">
              <a:solidFill>
                <a:srgbClr val="A95B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4-21"/>
          <p:cNvSpPr>
            <a:spLocks noGrp="1"/>
          </p:cNvSpPr>
          <p:nvPr/>
        </p:nvSpPr>
        <p:spPr>
          <a:xfrm>
            <a:off x="7094786" y="3548360"/>
            <a:ext cx="282639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 i="0">
                <a:solidFill>
                  <a:srgbClr val="6E4B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可设置奖励机制，让收费员推广自主缴费和包月产品。</a:t>
            </a:r>
            <a:endParaRPr sz="900" b="0" i="0">
              <a:solidFill>
                <a:srgbClr val="6E4B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4-22"/>
          <p:cNvSpPr>
            <a:spLocks noGrp="1"/>
          </p:cNvSpPr>
          <p:nvPr/>
        </p:nvSpPr>
        <p:spPr>
          <a:xfrm>
            <a:off x="1026616" y="4753868"/>
            <a:ext cx="246906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◉</a:t>
            </a:r>
            <a:endParaRPr sz="134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4-23"/>
          <p:cNvSpPr>
            <a:spLocks noGrp="1"/>
          </p:cNvSpPr>
          <p:nvPr/>
        </p:nvSpPr>
        <p:spPr>
          <a:xfrm>
            <a:off x="929134" y="5050631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无感支付</a:t>
            </a:r>
            <a:endParaRPr sz="72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4-24"/>
          <p:cNvSpPr>
            <a:spLocks noGrp="1"/>
          </p:cNvSpPr>
          <p:nvPr/>
        </p:nvSpPr>
        <p:spPr>
          <a:xfrm>
            <a:off x="1858119" y="48546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sz="1200" b="0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14-25"/>
          <p:cNvSpPr>
            <a:spLocks noGrp="1"/>
          </p:cNvSpPr>
          <p:nvPr/>
        </p:nvSpPr>
        <p:spPr>
          <a:xfrm>
            <a:off x="2671167" y="4753868"/>
            <a:ext cx="246906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▣</a:t>
            </a:r>
            <a:endParaRPr sz="134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14-26"/>
          <p:cNvSpPr>
            <a:spLocks noGrp="1"/>
          </p:cNvSpPr>
          <p:nvPr/>
        </p:nvSpPr>
        <p:spPr>
          <a:xfrm>
            <a:off x="2573685" y="5050631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预付套餐</a:t>
            </a:r>
            <a:endParaRPr sz="72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14-27"/>
          <p:cNvSpPr>
            <a:spLocks noGrp="1"/>
          </p:cNvSpPr>
          <p:nvPr/>
        </p:nvSpPr>
        <p:spPr>
          <a:xfrm>
            <a:off x="3502819" y="48546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sz="1200" b="0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14-28"/>
          <p:cNvSpPr>
            <a:spLocks noGrp="1"/>
          </p:cNvSpPr>
          <p:nvPr/>
        </p:nvSpPr>
        <p:spPr>
          <a:xfrm>
            <a:off x="4375547" y="4739580"/>
            <a:ext cx="2190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↻</a:t>
            </a:r>
            <a:endParaRPr sz="134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14-29"/>
          <p:cNvSpPr>
            <a:spLocks noGrp="1"/>
          </p:cNvSpPr>
          <p:nvPr/>
        </p:nvSpPr>
        <p:spPr>
          <a:xfrm>
            <a:off x="4218384" y="5045869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多场景追缴</a:t>
            </a:r>
            <a:endParaRPr sz="72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ditable text 14-30"/>
          <p:cNvSpPr>
            <a:spLocks noGrp="1"/>
          </p:cNvSpPr>
          <p:nvPr/>
        </p:nvSpPr>
        <p:spPr>
          <a:xfrm>
            <a:off x="5238750" y="48546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＝</a:t>
            </a:r>
            <a:endParaRPr sz="1200" b="0" i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ditable text 14-31"/>
          <p:cNvSpPr>
            <a:spLocks noGrp="1"/>
          </p:cNvSpPr>
          <p:nvPr/>
        </p:nvSpPr>
        <p:spPr>
          <a:xfrm>
            <a:off x="6094512" y="4744343"/>
            <a:ext cx="161627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45" b="1" i="0">
                <a:solidFill>
                  <a:srgbClr val="1677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1345" b="1" i="0">
              <a:solidFill>
                <a:srgbClr val="1677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ditable text 14-32"/>
          <p:cNvSpPr>
            <a:spLocks noGrp="1"/>
          </p:cNvSpPr>
          <p:nvPr/>
        </p:nvSpPr>
        <p:spPr>
          <a:xfrm>
            <a:off x="5954316" y="5041106"/>
            <a:ext cx="44202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1" i="0">
                <a:solidFill>
                  <a:srgbClr val="081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降低欠费</a:t>
            </a:r>
            <a:endParaRPr sz="720" b="1" i="0">
              <a:solidFill>
                <a:srgbClr val="081B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ditable text 14-33"/>
          <p:cNvSpPr>
            <a:spLocks noGrp="1"/>
          </p:cNvSpPr>
          <p:nvPr/>
        </p:nvSpPr>
        <p:spPr>
          <a:xfrm>
            <a:off x="6896695" y="4716959"/>
            <a:ext cx="2313682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减少现金收费，释放人员精力，逐步提升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ditable text 14-34"/>
          <p:cNvSpPr>
            <a:spLocks noGrp="1"/>
          </p:cNvSpPr>
          <p:nvPr/>
        </p:nvSpPr>
        <p:spPr>
          <a:xfrm>
            <a:off x="9134177" y="4716959"/>
            <a:ext cx="697706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1" i="0">
                <a:solidFill>
                  <a:srgbClr val="70E7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自主缴费率</a:t>
            </a:r>
            <a:endParaRPr sz="980" b="1" i="0">
              <a:solidFill>
                <a:srgbClr val="70E7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ditable text 14-35"/>
          <p:cNvSpPr>
            <a:spLocks noGrp="1"/>
          </p:cNvSpPr>
          <p:nvPr/>
        </p:nvSpPr>
        <p:spPr>
          <a:xfrm>
            <a:off x="9755684" y="4716959"/>
            <a:ext cx="200620" cy="2370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8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ditable text 14-36"/>
          <p:cNvSpPr>
            <a:spLocks noGrp="1"/>
          </p:cNvSpPr>
          <p:nvPr/>
        </p:nvSpPr>
        <p:spPr>
          <a:xfrm>
            <a:off x="955328" y="6562725"/>
            <a:ext cx="103123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0" i="0">
                <a:solidFill>
                  <a:srgbClr val="8A98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道路停车建设与运营</a:t>
            </a:r>
            <a:endParaRPr sz="670" b="0" i="0">
              <a:solidFill>
                <a:srgbClr val="8A98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 text 15-1"/>
          <p:cNvSpPr>
            <a:spLocks noGrp="1"/>
          </p:cNvSpPr>
          <p:nvPr/>
        </p:nvSpPr>
        <p:spPr>
          <a:xfrm>
            <a:off x="1034355" y="639217"/>
            <a:ext cx="227900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MANAGEMENT &amp; SUMMARY</a:t>
            </a:r>
            <a:endParaRPr sz="10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ditable text 15-2"/>
          <p:cNvSpPr>
            <a:spLocks noGrp="1"/>
          </p:cNvSpPr>
          <p:nvPr/>
        </p:nvSpPr>
        <p:spPr>
          <a:xfrm>
            <a:off x="746373" y="852488"/>
            <a:ext cx="2683966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826"/>
          </a:bodyPr>
          <a:lstStyle/>
          <a:p>
            <a:pPr algn="l">
              <a:defRPr sz="2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日常管理与建设总结</a:t>
            </a:r>
            <a:endParaRPr sz="2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ditable text 15-3"/>
          <p:cNvSpPr>
            <a:spLocks noGrp="1"/>
          </p:cNvSpPr>
          <p:nvPr/>
        </p:nvSpPr>
        <p:spPr>
          <a:xfrm>
            <a:off x="10745986" y="477292"/>
            <a:ext cx="756791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784"/>
          </a:bodyPr>
          <a:lstStyle/>
          <a:p>
            <a:pPr algn="l">
              <a:defRPr sz="49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9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499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ditable text 15-4"/>
          <p:cNvSpPr>
            <a:spLocks noGrp="1"/>
          </p:cNvSpPr>
          <p:nvPr/>
        </p:nvSpPr>
        <p:spPr>
          <a:xfrm>
            <a:off x="977057" y="1722239"/>
            <a:ext cx="1304776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1" i="0">
                <a:solidFill>
                  <a:srgbClr val="68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1" i="0">
                <a:solidFill>
                  <a:srgbClr val="68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日常工作全面线上化</a:t>
            </a:r>
            <a:endParaRPr sz="1075" b="1" i="0">
              <a:solidFill>
                <a:srgbClr val="68E0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ditable text 15-5"/>
          <p:cNvSpPr>
            <a:spLocks noGrp="1"/>
          </p:cNvSpPr>
          <p:nvPr/>
        </p:nvSpPr>
        <p:spPr>
          <a:xfrm>
            <a:off x="1144339" y="2129135"/>
            <a:ext cx="41761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设备巡检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ditable text 15-6"/>
          <p:cNvSpPr>
            <a:spLocks noGrp="1"/>
          </p:cNvSpPr>
          <p:nvPr/>
        </p:nvSpPr>
        <p:spPr>
          <a:xfrm>
            <a:off x="3168253" y="2129135"/>
            <a:ext cx="41761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故障报修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ditable text 15-7"/>
          <p:cNvSpPr>
            <a:spLocks noGrp="1"/>
          </p:cNvSpPr>
          <p:nvPr/>
        </p:nvSpPr>
        <p:spPr>
          <a:xfrm>
            <a:off x="1144339" y="2464743"/>
            <a:ext cx="41761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维修处理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ditable text 15-8"/>
          <p:cNvSpPr>
            <a:spLocks noGrp="1"/>
          </p:cNvSpPr>
          <p:nvPr/>
        </p:nvSpPr>
        <p:spPr>
          <a:xfrm>
            <a:off x="3168253" y="2464743"/>
            <a:ext cx="417612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投诉处理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ditable text 15-9"/>
          <p:cNvSpPr>
            <a:spLocks noGrp="1"/>
          </p:cNvSpPr>
          <p:nvPr/>
        </p:nvSpPr>
        <p:spPr>
          <a:xfrm>
            <a:off x="1144339" y="2800350"/>
            <a:ext cx="58831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异常订单审核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ditable text 15-10"/>
          <p:cNvSpPr>
            <a:spLocks noGrp="1"/>
          </p:cNvSpPr>
          <p:nvPr/>
        </p:nvSpPr>
        <p:spPr>
          <a:xfrm>
            <a:off x="3168253" y="2800350"/>
            <a:ext cx="58831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人员排班考核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ditable text 15-11"/>
          <p:cNvSpPr>
            <a:spLocks noGrp="1"/>
          </p:cNvSpPr>
          <p:nvPr/>
        </p:nvSpPr>
        <p:spPr>
          <a:xfrm>
            <a:off x="1144339" y="3135957"/>
            <a:ext cx="58831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备品备件管理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ditable text 15-12"/>
          <p:cNvSpPr>
            <a:spLocks noGrp="1"/>
          </p:cNvSpPr>
          <p:nvPr/>
        </p:nvSpPr>
        <p:spPr>
          <a:xfrm>
            <a:off x="3168253" y="3135957"/>
            <a:ext cx="588318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E5F1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现场资料上传</a:t>
            </a:r>
            <a:endParaRPr sz="670" b="1" i="0">
              <a:solidFill>
                <a:srgbClr val="E5F1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ditable text 15-13"/>
          <p:cNvSpPr>
            <a:spLocks noGrp="1"/>
          </p:cNvSpPr>
          <p:nvPr/>
        </p:nvSpPr>
        <p:spPr>
          <a:xfrm>
            <a:off x="977057" y="3433465"/>
            <a:ext cx="336812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20" b="0" i="0">
                <a:solidFill>
                  <a:srgbClr val="BFD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20" b="0" i="0">
                <a:solidFill>
                  <a:srgbClr val="BFD4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避免主要依靠电话、微信群和纸质表格，实现责任明确、过程留痕、结果可追踪。</a:t>
            </a:r>
            <a:endParaRPr sz="720" b="0" i="0">
              <a:solidFill>
                <a:srgbClr val="BFD4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ditable text 15-14"/>
          <p:cNvSpPr>
            <a:spLocks noGrp="1"/>
          </p:cNvSpPr>
          <p:nvPr/>
        </p:nvSpPr>
        <p:spPr>
          <a:xfrm>
            <a:off x="5617666" y="1644253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ditable text 15-15"/>
          <p:cNvSpPr>
            <a:spLocks noGrp="1"/>
          </p:cNvSpPr>
          <p:nvPr/>
        </p:nvSpPr>
        <p:spPr>
          <a:xfrm>
            <a:off x="5835104" y="1619845"/>
            <a:ext cx="142934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先确定运营模式，再进行设备采购</a:t>
            </a:r>
            <a:endParaRPr lang="zh-CN" altLang="en-US"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ditable text 15-16"/>
          <p:cNvSpPr>
            <a:spLocks noGrp="1"/>
          </p:cNvSpPr>
          <p:nvPr/>
        </p:nvSpPr>
        <p:spPr>
          <a:xfrm>
            <a:off x="8653314" y="1644253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ditable text 15-17"/>
          <p:cNvSpPr>
            <a:spLocks noGrp="1"/>
          </p:cNvSpPr>
          <p:nvPr/>
        </p:nvSpPr>
        <p:spPr>
          <a:xfrm>
            <a:off x="8870752" y="1619845"/>
            <a:ext cx="151953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充电桩和停车设备优先采用设备直连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ditable text 15-18"/>
          <p:cNvSpPr>
            <a:spLocks noGrp="1"/>
          </p:cNvSpPr>
          <p:nvPr/>
        </p:nvSpPr>
        <p:spPr>
          <a:xfrm>
            <a:off x="5617666" y="2242393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ditable text 15-19"/>
          <p:cNvSpPr>
            <a:spLocks noGrp="1"/>
          </p:cNvSpPr>
          <p:nvPr/>
        </p:nvSpPr>
        <p:spPr>
          <a:xfrm>
            <a:off x="5835104" y="2217986"/>
            <a:ext cx="169991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统一设备、接口、计费、订单和支付标准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ditable text 15-20"/>
          <p:cNvSpPr>
            <a:spLocks noGrp="1"/>
          </p:cNvSpPr>
          <p:nvPr/>
        </p:nvSpPr>
        <p:spPr>
          <a:xfrm>
            <a:off x="8653314" y="2242393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ditable text 15-21"/>
          <p:cNvSpPr>
            <a:spLocks noGrp="1"/>
          </p:cNvSpPr>
          <p:nvPr/>
        </p:nvSpPr>
        <p:spPr>
          <a:xfrm>
            <a:off x="8870752" y="2217986"/>
            <a:ext cx="151953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根据不同路段选择不同道路停车方案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ditable text 15-22"/>
          <p:cNvSpPr>
            <a:spLocks noGrp="1"/>
          </p:cNvSpPr>
          <p:nvPr/>
        </p:nvSpPr>
        <p:spPr>
          <a:xfrm>
            <a:off x="5617666" y="2840682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ditable text 15-23"/>
          <p:cNvSpPr>
            <a:spLocks noGrp="1"/>
          </p:cNvSpPr>
          <p:nvPr/>
        </p:nvSpPr>
        <p:spPr>
          <a:xfrm>
            <a:off x="5835104" y="2816275"/>
            <a:ext cx="169991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通过无感支付和套餐降低欠费与人工成本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ditable text 15-24"/>
          <p:cNvSpPr>
            <a:spLocks noGrp="1"/>
          </p:cNvSpPr>
          <p:nvPr/>
        </p:nvSpPr>
        <p:spPr>
          <a:xfrm>
            <a:off x="8653314" y="2840682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ditable text 15-25"/>
          <p:cNvSpPr>
            <a:spLocks noGrp="1"/>
          </p:cNvSpPr>
          <p:nvPr/>
        </p:nvSpPr>
        <p:spPr>
          <a:xfrm>
            <a:off x="8870752" y="2816275"/>
            <a:ext cx="142934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先试点、再评估、最后规模化建设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ditable text 15-26"/>
          <p:cNvSpPr>
            <a:spLocks noGrp="1"/>
          </p:cNvSpPr>
          <p:nvPr/>
        </p:nvSpPr>
        <p:spPr>
          <a:xfrm>
            <a:off x="5617666" y="3438971"/>
            <a:ext cx="1288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67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ditable text 15-27"/>
          <p:cNvSpPr>
            <a:spLocks noGrp="1"/>
          </p:cNvSpPr>
          <p:nvPr/>
        </p:nvSpPr>
        <p:spPr>
          <a:xfrm>
            <a:off x="5835104" y="3414564"/>
            <a:ext cx="1970484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日常工作全面线上化，实现责任明确、过程留痕</a:t>
            </a:r>
            <a:endParaRPr sz="71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ditable text 15-28"/>
          <p:cNvSpPr>
            <a:spLocks noGrp="1"/>
          </p:cNvSpPr>
          <p:nvPr/>
        </p:nvSpPr>
        <p:spPr>
          <a:xfrm>
            <a:off x="970955" y="4166741"/>
            <a:ext cx="3308152" cy="2308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0" i="0">
                <a:solidFill>
                  <a:srgbClr val="E8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0" i="0">
                <a:solidFill>
                  <a:srgbClr val="E8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智能化建设的目标不是“设备更多、系统更复杂”，而是让</a:t>
            </a:r>
            <a:endParaRPr sz="980" b="0" i="0">
              <a:solidFill>
                <a:srgbClr val="E8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ditable text 15-29"/>
          <p:cNvSpPr>
            <a:spLocks noGrp="1"/>
          </p:cNvSpPr>
          <p:nvPr/>
        </p:nvSpPr>
        <p:spPr>
          <a:xfrm>
            <a:off x="4239667" y="4166741"/>
            <a:ext cx="2562225" cy="2308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80" b="1" i="0">
                <a:solidFill>
                  <a:srgbClr val="68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80" b="1" i="0">
                <a:solidFill>
                  <a:srgbClr val="68E0F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运营更简单、成本更可控、设备更容易替换。</a:t>
            </a:r>
            <a:endParaRPr sz="980" b="1" i="0">
              <a:solidFill>
                <a:srgbClr val="68E0F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3149</Words>
  <Application>WPS 演示</Application>
  <PresentationFormat>Converted Presentation</PresentationFormat>
  <Paragraphs>810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南京大宝</cp:lastModifiedBy>
  <cp:revision>4</cp:revision>
  <dcterms:created xsi:type="dcterms:W3CDTF">2026-07-15T11:59:03Z</dcterms:created>
  <dcterms:modified xsi:type="dcterms:W3CDTF">2026-07-15T12:04:40Z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116263F5CEF14ED99976EB5260D9A4C4_12</vt:lpwstr>
  </property>
  <property fmtid="{D5CDD505-2E9C-101B-9397-08002B2CF9AE}" pid="3" name="KSOProductBuildVer">
    <vt:lpwstr>2052-12.1.0.26895</vt:lpwstr>
  </property>
</Properties>
</file>